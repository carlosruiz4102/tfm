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4"/>
  </p:notesMasterIdLst>
  <p:sldIdLst>
    <p:sldId id="297" r:id="rId2"/>
    <p:sldId id="259" r:id="rId3"/>
    <p:sldId id="298" r:id="rId4"/>
    <p:sldId id="299" r:id="rId5"/>
    <p:sldId id="300" r:id="rId6"/>
    <p:sldId id="261" r:id="rId7"/>
    <p:sldId id="325" r:id="rId8"/>
    <p:sldId id="326" r:id="rId9"/>
    <p:sldId id="327" r:id="rId10"/>
    <p:sldId id="328" r:id="rId11"/>
    <p:sldId id="258" r:id="rId12"/>
    <p:sldId id="329" r:id="rId13"/>
    <p:sldId id="330" r:id="rId14"/>
    <p:sldId id="331" r:id="rId15"/>
    <p:sldId id="332" r:id="rId16"/>
    <p:sldId id="262" r:id="rId17"/>
    <p:sldId id="333" r:id="rId18"/>
    <p:sldId id="334" r:id="rId19"/>
    <p:sldId id="335" r:id="rId20"/>
    <p:sldId id="336" r:id="rId21"/>
    <p:sldId id="340" r:id="rId22"/>
    <p:sldId id="338" r:id="rId23"/>
    <p:sldId id="339" r:id="rId24"/>
    <p:sldId id="257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</p:sldIdLst>
  <p:sldSz cx="9144000" cy="5143500" type="screen16x9"/>
  <p:notesSz cx="6858000" cy="9144000"/>
  <p:embeddedFontLst>
    <p:embeddedFont>
      <p:font typeface="Lato" panose="020B0604020202020204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Dosis" panose="020B0604020202020204" charset="0"/>
      <p:regular r:id="rId43"/>
      <p:bold r:id="rId44"/>
    </p:embeddedFont>
    <p:embeddedFont>
      <p:font typeface="Source Sans Pro" panose="020B0604020202020204" charset="0"/>
      <p:regular r:id="rId45"/>
      <p:bold r:id="rId46"/>
      <p:italic r:id="rId47"/>
      <p:boldItalic r:id="rId48"/>
    </p:embeddedFont>
    <p:embeddedFont>
      <p:font typeface="Montserrat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0" autoAdjust="0"/>
    <p:restoredTop sz="94694"/>
  </p:normalViewPr>
  <p:slideViewPr>
    <p:cSldViewPr snapToGrid="0">
      <p:cViewPr varScale="1">
        <p:scale>
          <a:sx n="59" d="100"/>
          <a:sy n="59" d="100"/>
        </p:scale>
        <p:origin x="45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665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7682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205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c0d2a5a07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c0d2a5a07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6268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c0d2a5a07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c0d2a5a07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04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274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867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153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90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737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1608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374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503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661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37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019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c0d2a5a07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c0d2a5a07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717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1388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5477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667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834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366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01586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3984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773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44425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818123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415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7" r:id="rId5"/>
    <p:sldLayoutId id="2147483659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513739"/>
            <a:ext cx="4677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 err="1" smtClean="0">
                <a:latin typeface="Montserrat"/>
                <a:ea typeface="Montserrat"/>
                <a:cs typeface="Montserrat"/>
                <a:sym typeface="Montserrat"/>
              </a:rPr>
              <a:t>IA</a:t>
            </a:r>
            <a:r>
              <a:rPr lang="es-ES" sz="3600" b="1" dirty="0" smtClean="0">
                <a:latin typeface="Montserrat"/>
                <a:ea typeface="Montserrat"/>
                <a:cs typeface="Montserrat"/>
                <a:sym typeface="Montserrat"/>
              </a:rPr>
              <a:t> Y PROPIEDAD INTELECTUAL</a:t>
            </a:r>
            <a:endParaRPr sz="36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695388" y="3062825"/>
            <a:ext cx="4905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n" sz="1500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 smtClean="0"/>
              <a:t>3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CONTEXTO IA-PI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CONTEXTO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Marcador de texto 5"/>
          <p:cNvSpPr txBox="1">
            <a:spLocks noGrp="1"/>
          </p:cNvSpPr>
          <p:nvPr>
            <p:ph type="body" idx="1"/>
          </p:nvPr>
        </p:nvSpPr>
        <p:spPr>
          <a:xfrm>
            <a:off x="844424" y="1538075"/>
            <a:ext cx="7936237" cy="1123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2800" dirty="0" smtClean="0">
                <a:latin typeface="Lato" panose="020F0502020204030203"/>
              </a:rPr>
              <a:t>¿Se deben proteger las creaciones con derechos de propiedad intelectual o industrial?</a:t>
            </a:r>
            <a:endParaRPr lang="es-ES" sz="2800" dirty="0"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CONTEXTO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914401" y="1518056"/>
            <a:ext cx="76487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G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arantizar 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la promoción de la innovación y la creatividad, así como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el acceso 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al conocimiento y a la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información.</a:t>
            </a:r>
          </a:p>
          <a:p>
            <a:endParaRPr lang="es-ES" sz="2400" dirty="0" smtClean="0">
              <a:latin typeface="Lato" panose="020B0604020202020204" charset="0"/>
              <a:cs typeface="Lato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Protección </a:t>
            </a: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uniforme de los derechos de propiedad intelectual e industrial (DPI) en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la Unión.</a:t>
            </a:r>
            <a:endParaRPr lang="es-ES" sz="2400" dirty="0">
              <a:latin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 smtClean="0"/>
              <a:t>3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CONCEPTOS BÁSICOS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86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CONCEPTOS BÁSICOS PI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189" y="2049460"/>
            <a:ext cx="2123072" cy="133382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389" y="2094245"/>
            <a:ext cx="1983141" cy="128904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948907" y="3594340"/>
            <a:ext cx="32435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PROPIEDAD INTELECTUAL O DERECHOS DE AUTOR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873924" y="3594340"/>
            <a:ext cx="3001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PROPIEDAD INDUSTRIAL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CONCEPTO BÁSICOS</a:t>
            </a:r>
            <a:endParaRPr dirty="0"/>
          </a:p>
        </p:txBody>
      </p:sp>
      <p:sp>
        <p:nvSpPr>
          <p:cNvPr id="220" name="Google Shape;220;p23"/>
          <p:cNvSpPr/>
          <p:nvPr/>
        </p:nvSpPr>
        <p:spPr>
          <a:xfrm>
            <a:off x="5112679" y="1695883"/>
            <a:ext cx="3392966" cy="2663332"/>
          </a:xfrm>
          <a:prstGeom prst="ellipse">
            <a:avLst/>
          </a:prstGeom>
          <a:solidFill>
            <a:srgbClr val="A9D039"/>
          </a:solidFill>
          <a:ln w="9525" cap="flat" cmpd="sng">
            <a:solidFill>
              <a:srgbClr val="41566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Patentes.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Modelos utilidad.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Topografías.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Modelos industriales.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Marcas.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Rótulos establecimiento.</a:t>
            </a:r>
            <a:endParaRPr sz="18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1" name="Google Shape;221;p2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956143" y="1523355"/>
            <a:ext cx="3440882" cy="2835860"/>
          </a:xfrm>
          <a:prstGeom prst="ellipse">
            <a:avLst/>
          </a:prstGeom>
          <a:solidFill>
            <a:srgbClr val="0DB7C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20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Obras literarias, </a:t>
            </a:r>
            <a:r>
              <a:rPr lang="es-ES" sz="20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</a:t>
            </a:r>
            <a:r>
              <a:rPr lang="en" sz="20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rtíscas o científicas.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20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Programas de ordenador.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20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Obras multimedia</a:t>
            </a:r>
            <a:endParaRPr sz="20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656272" y="4410974"/>
            <a:ext cx="2536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Derechos de autor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857336" y="4410974"/>
            <a:ext cx="2536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Propiedad Industrial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83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</a:t>
            </a:r>
            <a:r>
              <a:rPr lang="en" dirty="0" smtClean="0"/>
              <a:t>ONCEPTOS BÁSICOS: DERECHOS DE AUTOR</a:t>
            </a:r>
            <a:endParaRPr dirty="0"/>
          </a:p>
        </p:txBody>
      </p:sp>
      <p:sp>
        <p:nvSpPr>
          <p:cNvPr id="561" name="Google Shape;561;p4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562" name="Google Shape;562;p43"/>
          <p:cNvGrpSpPr/>
          <p:nvPr/>
        </p:nvGrpSpPr>
        <p:grpSpPr>
          <a:xfrm>
            <a:off x="855292" y="1413039"/>
            <a:ext cx="3608219" cy="2767819"/>
            <a:chOff x="3778727" y="4460423"/>
            <a:chExt cx="720160" cy="552426"/>
          </a:xfrm>
        </p:grpSpPr>
        <p:sp>
          <p:nvSpPr>
            <p:cNvPr id="563" name="Google Shape;563;p43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 ANÁLISIS 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TEMPORAMENTE LIMITADO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NO INSCRIPCIÓN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NATURALEZA MIXTA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INTERNACIONAL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cxnSp>
        <p:nvCxnSpPr>
          <p:cNvPr id="570" name="Google Shape;570;p43"/>
          <p:cNvCxnSpPr/>
          <p:nvPr/>
        </p:nvCxnSpPr>
        <p:spPr>
          <a:xfrm>
            <a:off x="4383550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1" name="Google Shape;571;p43"/>
          <p:cNvSpPr txBox="1"/>
          <p:nvPr/>
        </p:nvSpPr>
        <p:spPr>
          <a:xfrm>
            <a:off x="5502050" y="17780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ES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</a:t>
            </a: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ESPAÑA 70 AÑOS+LA VIDA DEL AUTOR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2" name="Google Shape;572;p43"/>
          <p:cNvCxnSpPr/>
          <p:nvPr/>
        </p:nvCxnSpPr>
        <p:spPr>
          <a:xfrm>
            <a:off x="4227875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3" name="Google Shape;573;p43"/>
          <p:cNvSpPr txBox="1"/>
          <p:nvPr/>
        </p:nvSpPr>
        <p:spPr>
          <a:xfrm>
            <a:off x="5502050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DERECHOS MORALES Y DERECHOS DE EXPLOTACIÓN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4" name="Google Shape;574;p43"/>
          <p:cNvCxnSpPr/>
          <p:nvPr/>
        </p:nvCxnSpPr>
        <p:spPr>
          <a:xfrm>
            <a:off x="4006650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5" name="Google Shape;575;p43"/>
          <p:cNvSpPr txBox="1"/>
          <p:nvPr/>
        </p:nvSpPr>
        <p:spPr>
          <a:xfrm>
            <a:off x="5502050" y="27412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ACTO DE CREACIÓN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6" name="Google Shape;576;p43"/>
          <p:cNvCxnSpPr/>
          <p:nvPr/>
        </p:nvCxnSpPr>
        <p:spPr>
          <a:xfrm>
            <a:off x="3818200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7" name="Google Shape;577;p43"/>
          <p:cNvSpPr txBox="1"/>
          <p:nvPr/>
        </p:nvSpPr>
        <p:spPr>
          <a:xfrm>
            <a:off x="5502050" y="32228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RECONOCIMIENTO INTERNACIONAL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8" name="Google Shape;578;p43"/>
          <p:cNvCxnSpPr/>
          <p:nvPr/>
        </p:nvCxnSpPr>
        <p:spPr>
          <a:xfrm>
            <a:off x="3613350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9" name="Google Shape;579;p43"/>
          <p:cNvSpPr txBox="1"/>
          <p:nvPr/>
        </p:nvSpPr>
        <p:spPr>
          <a:xfrm>
            <a:off x="5502050" y="37044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ORIGINALIDAD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51722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C</a:t>
            </a:r>
            <a:r>
              <a:rPr lang="en" dirty="0" smtClean="0"/>
              <a:t>ONCEPTOS BÁSICOS: PROPIEDAD INDUSTRIAL</a:t>
            </a:r>
            <a:endParaRPr dirty="0"/>
          </a:p>
        </p:txBody>
      </p:sp>
      <p:sp>
        <p:nvSpPr>
          <p:cNvPr id="561" name="Google Shape;561;p4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562" name="Google Shape;562;p43"/>
          <p:cNvGrpSpPr/>
          <p:nvPr/>
        </p:nvGrpSpPr>
        <p:grpSpPr>
          <a:xfrm>
            <a:off x="855292" y="1413039"/>
            <a:ext cx="3608219" cy="2767819"/>
            <a:chOff x="3778727" y="4460423"/>
            <a:chExt cx="720160" cy="552426"/>
          </a:xfrm>
        </p:grpSpPr>
        <p:sp>
          <p:nvSpPr>
            <p:cNvPr id="563" name="Google Shape;563;p43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ANÁLISIS PREVIO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TEMPORAMENTE LIMITADO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INSCRIPCIÓN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NATURALEZA ECONÓMICA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 smtClean="0">
                  <a:solidFill>
                    <a:schemeClr val="l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TERRITORIAL</a:t>
              </a:r>
              <a:endParaRPr sz="1200" b="1" i="0" u="none" strike="noStrike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cxnSp>
        <p:nvCxnSpPr>
          <p:cNvPr id="570" name="Google Shape;570;p43"/>
          <p:cNvCxnSpPr/>
          <p:nvPr/>
        </p:nvCxnSpPr>
        <p:spPr>
          <a:xfrm>
            <a:off x="4383550" y="19500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1" name="Google Shape;571;p43"/>
          <p:cNvSpPr txBox="1"/>
          <p:nvPr/>
        </p:nvSpPr>
        <p:spPr>
          <a:xfrm>
            <a:off x="5502050" y="17780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s-ES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DEPENDIENDO: 20 AÑOS, 10 AÑOS, ….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2" name="Google Shape;572;p43"/>
          <p:cNvCxnSpPr/>
          <p:nvPr/>
        </p:nvCxnSpPr>
        <p:spPr>
          <a:xfrm>
            <a:off x="4227875" y="24317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3" name="Google Shape;573;p43"/>
          <p:cNvSpPr txBox="1"/>
          <p:nvPr/>
        </p:nvSpPr>
        <p:spPr>
          <a:xfrm>
            <a:off x="5502050" y="22596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DERECHO EXCLUSIVO Y EXCLUYENTE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4" name="Google Shape;574;p43"/>
          <p:cNvCxnSpPr/>
          <p:nvPr/>
        </p:nvCxnSpPr>
        <p:spPr>
          <a:xfrm>
            <a:off x="4006650" y="29133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5" name="Google Shape;575;p43"/>
          <p:cNvSpPr txBox="1"/>
          <p:nvPr/>
        </p:nvSpPr>
        <p:spPr>
          <a:xfrm>
            <a:off x="5502050" y="27412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OBLIGATORIA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6" name="Google Shape;576;p43"/>
          <p:cNvCxnSpPr/>
          <p:nvPr/>
        </p:nvCxnSpPr>
        <p:spPr>
          <a:xfrm>
            <a:off x="3818200" y="33949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7" name="Google Shape;577;p43"/>
          <p:cNvSpPr txBox="1"/>
          <p:nvPr/>
        </p:nvSpPr>
        <p:spPr>
          <a:xfrm>
            <a:off x="5502050" y="32228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 VOCACIÓN INTERNACIONAL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8" name="Google Shape;578;p43"/>
          <p:cNvCxnSpPr/>
          <p:nvPr/>
        </p:nvCxnSpPr>
        <p:spPr>
          <a:xfrm>
            <a:off x="3613350" y="38765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9" name="Google Shape;579;p43"/>
          <p:cNvSpPr txBox="1"/>
          <p:nvPr/>
        </p:nvSpPr>
        <p:spPr>
          <a:xfrm>
            <a:off x="5502050" y="37044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REQUISITOS PREVIOS DE OBLIGADO CUMPLIMIENTO</a:t>
            </a:r>
            <a:endParaRPr sz="1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68435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 smtClean="0"/>
              <a:t>3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DERECHOS DE AUTOR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44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DERECHOS DE AUTOR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869" y="2168590"/>
            <a:ext cx="628422" cy="74558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460" y="1551512"/>
            <a:ext cx="457240" cy="48772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736785" y="2386641"/>
            <a:ext cx="2846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PERSONAS FÍSICAS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DERECHOS DE AUTOR</a:t>
            </a:r>
            <a:endParaRPr dirty="0"/>
          </a:p>
        </p:txBody>
      </p:sp>
      <p:sp>
        <p:nvSpPr>
          <p:cNvPr id="220" name="Google Shape;220;p23"/>
          <p:cNvSpPr/>
          <p:nvPr/>
        </p:nvSpPr>
        <p:spPr>
          <a:xfrm>
            <a:off x="4675516" y="1644125"/>
            <a:ext cx="3709359" cy="2539800"/>
          </a:xfrm>
          <a:prstGeom prst="ellipse">
            <a:avLst/>
          </a:prstGeom>
          <a:solidFill>
            <a:srgbClr val="A9D039"/>
          </a:solidFill>
          <a:ln w="9525" cap="flat" cmpd="sng">
            <a:solidFill>
              <a:srgbClr val="41566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REPRODUCCIÓN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DISTRIBUCIÓN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COMUNICACIÓN PB.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TRANSFORMACIÓN</a:t>
            </a:r>
            <a:endParaRPr sz="24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1" name="Google Shape;221;p2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1121434" y="1644125"/>
            <a:ext cx="3122762" cy="2539800"/>
          </a:xfrm>
          <a:prstGeom prst="ellipse">
            <a:avLst/>
          </a:prstGeom>
          <a:solidFill>
            <a:srgbClr val="0DB7C4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DIVULGACIÓN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PATERNIDAD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INTEGRIDAD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 smtClean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MODIFICACIÓN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472242" y="4244196"/>
            <a:ext cx="2679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>
                <a:latin typeface="Source Sans Pro" panose="020B0604020202020204" charset="0"/>
              </a:rPr>
              <a:t>MORALES</a:t>
            </a:r>
            <a:endParaRPr lang="es-ES" sz="2400" dirty="0">
              <a:latin typeface="Source Sans Pro" panose="020B060402020202020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380008" y="4244195"/>
            <a:ext cx="2679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>
                <a:latin typeface="Source Sans Pro" panose="020B0604020202020204" charset="0"/>
              </a:rPr>
              <a:t>DE EXPLOTACIÓN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DERECHOS DE AUTOR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3403605" y="2910411"/>
            <a:ext cx="2846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smtClean="0">
                <a:latin typeface="Lato" panose="020B0604020202020204" charset="0"/>
                <a:cs typeface="Lato" panose="020B0604020202020204" charset="0"/>
              </a:rPr>
              <a:t>PROGRAMAS DE ORDENADOR</a:t>
            </a:r>
            <a:endParaRPr lang="es-ES" sz="2000" dirty="0">
              <a:latin typeface="Lato" panose="020B0604020202020204" charset="0"/>
              <a:cs typeface="Lato" panose="020B0604020202020204" charset="0"/>
            </a:endParaRPr>
          </a:p>
        </p:txBody>
      </p:sp>
      <p:grpSp>
        <p:nvGrpSpPr>
          <p:cNvPr id="10" name="Google Shape;1718;p50"/>
          <p:cNvGrpSpPr/>
          <p:nvPr/>
        </p:nvGrpSpPr>
        <p:grpSpPr>
          <a:xfrm>
            <a:off x="1560627" y="1743893"/>
            <a:ext cx="5691315" cy="2575311"/>
            <a:chOff x="10857573" y="5486226"/>
            <a:chExt cx="807678" cy="747168"/>
          </a:xfrm>
        </p:grpSpPr>
        <p:sp>
          <p:nvSpPr>
            <p:cNvPr id="11" name="Google Shape;1719;p50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600" b="1" i="0" u="none" strike="noStrike" cap="none" dirty="0" smtClean="0">
                  <a:solidFill>
                    <a:schemeClr val="bg1"/>
                  </a:solidFill>
                  <a:latin typeface="Lato" panose="020B0604020202020204" charset="0"/>
                  <a:ea typeface="Calibri"/>
                  <a:cs typeface="Lato" panose="020B0604020202020204" charset="0"/>
                  <a:sym typeface="Calibri"/>
                </a:rPr>
                <a:t>Manuales</a:t>
              </a:r>
              <a:endParaRPr sz="1600" b="1" i="0" u="none" strike="noStrike" cap="none" dirty="0">
                <a:solidFill>
                  <a:schemeClr val="bg1"/>
                </a:solidFill>
                <a:latin typeface="Lato" panose="020B0604020202020204" charset="0"/>
                <a:ea typeface="Calibri"/>
                <a:cs typeface="Lato" panose="020B0604020202020204" charset="0"/>
                <a:sym typeface="Calibri"/>
              </a:endParaRPr>
            </a:p>
          </p:txBody>
        </p:sp>
        <p:sp>
          <p:nvSpPr>
            <p:cNvPr id="12" name="Google Shape;1720;p50"/>
            <p:cNvSpPr/>
            <p:nvPr/>
          </p:nvSpPr>
          <p:spPr>
            <a:xfrm>
              <a:off x="11420014" y="6018294"/>
              <a:ext cx="245237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600" b="1" i="0" u="none" strike="noStrike" cap="none" dirty="0" smtClean="0">
                  <a:solidFill>
                    <a:schemeClr val="bg1"/>
                  </a:solidFill>
                  <a:latin typeface="Lato" panose="020B0604020202020204" charset="0"/>
                  <a:ea typeface="Calibri"/>
                  <a:cs typeface="Lato" panose="020B0604020202020204" charset="0"/>
                  <a:sym typeface="Calibri"/>
                </a:rPr>
                <a:t>Versiones</a:t>
              </a:r>
              <a:endParaRPr sz="1600" b="1" i="0" u="none" strike="noStrike" cap="none" dirty="0">
                <a:solidFill>
                  <a:schemeClr val="bg1"/>
                </a:solidFill>
                <a:latin typeface="Lato" panose="020B0604020202020204" charset="0"/>
                <a:ea typeface="Calibri"/>
                <a:cs typeface="Lato" panose="020B0604020202020204" charset="0"/>
                <a:sym typeface="Calibri"/>
              </a:endParaRPr>
            </a:p>
          </p:txBody>
        </p:sp>
        <p:sp>
          <p:nvSpPr>
            <p:cNvPr id="13" name="Google Shape;1721;p50"/>
            <p:cNvSpPr/>
            <p:nvPr/>
          </p:nvSpPr>
          <p:spPr>
            <a:xfrm>
              <a:off x="10857573" y="5486226"/>
              <a:ext cx="300886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s-ES" b="1" dirty="0" smtClean="0">
                <a:solidFill>
                  <a:schemeClr val="bg1"/>
                </a:solidFill>
                <a:latin typeface="Lato" panose="020B0604020202020204" charset="0"/>
                <a:ea typeface="Calibri"/>
                <a:cs typeface="Lato" panose="020B0604020202020204" charset="0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b="1" dirty="0" smtClean="0">
                  <a:solidFill>
                    <a:schemeClr val="bg1"/>
                  </a:solidFill>
                  <a:latin typeface="Lato" panose="020B0604020202020204" charset="0"/>
                  <a:ea typeface="Calibri"/>
                  <a:cs typeface="Lato" panose="020B0604020202020204" charset="0"/>
                  <a:sym typeface="Calibri"/>
                </a:rPr>
                <a:t>Documentación</a:t>
              </a:r>
              <a:endParaRPr b="1" i="0" u="none" strike="noStrike" cap="none" dirty="0">
                <a:solidFill>
                  <a:schemeClr val="bg1"/>
                </a:solidFill>
                <a:latin typeface="Lato" panose="020B0604020202020204" charset="0"/>
                <a:ea typeface="Calibri"/>
                <a:cs typeface="Lato" panose="020B0604020202020204" charset="0"/>
                <a:sym typeface="Calibri"/>
              </a:endParaRPr>
            </a:p>
          </p:txBody>
        </p:sp>
        <p:sp>
          <p:nvSpPr>
            <p:cNvPr id="14" name="Google Shape;1722;p50"/>
            <p:cNvSpPr/>
            <p:nvPr/>
          </p:nvSpPr>
          <p:spPr>
            <a:xfrm>
              <a:off x="10896911" y="6017607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600" b="1" i="0" u="none" strike="noStrike" cap="none" dirty="0" smtClean="0">
                  <a:solidFill>
                    <a:schemeClr val="bg1"/>
                  </a:solidFill>
                  <a:latin typeface="Lato" panose="020B0604020202020204" charset="0"/>
                  <a:ea typeface="Calibri"/>
                  <a:cs typeface="Lato" panose="020B0604020202020204" charset="0"/>
                  <a:sym typeface="Calibri"/>
                </a:rPr>
                <a:t>Código</a:t>
              </a:r>
              <a:endParaRPr sz="1600" b="1" i="0" u="none" strike="noStrike" cap="none" dirty="0">
                <a:solidFill>
                  <a:schemeClr val="bg1"/>
                </a:solidFill>
                <a:latin typeface="Lato" panose="020B0604020202020204" charset="0"/>
                <a:ea typeface="Calibri"/>
                <a:cs typeface="Lato" panose="020B0604020202020204" charset="0"/>
                <a:sym typeface="Calibri"/>
              </a:endParaRPr>
            </a:p>
          </p:txBody>
        </p:sp>
        <p:sp>
          <p:nvSpPr>
            <p:cNvPr id="15" name="Google Shape;1723;p50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24;p50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25;p50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726;p50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727;p50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728;p50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29;p50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730;p50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040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 smtClean="0"/>
              <a:t>3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P</a:t>
            </a:r>
            <a:r>
              <a:rPr lang="en" dirty="0" smtClean="0"/>
              <a:t>ROPIEDAD INDUSTRIAL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614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048523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smtClean="0"/>
              <a:t>PROPIEDAD INDUSTRIAL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844424" y="1282267"/>
            <a:ext cx="764875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Protección de las expectativas de aprovechamiento comercial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:</a:t>
            </a:r>
          </a:p>
          <a:p>
            <a:endParaRPr lang="es-ES" sz="2400" dirty="0">
              <a:latin typeface="Lato" panose="020B0604020202020204" charset="0"/>
              <a:cs typeface="Lato" panose="020B0604020202020204" charset="0"/>
            </a:endParaRP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de los creadores de ideas o descubridores de inventos de aplicación industrial útil</a:t>
            </a:r>
          </a:p>
          <a:p>
            <a:pPr marL="342900" lvl="4" indent="-342900">
              <a:buFont typeface="Arial" panose="020B0604020202020204" pitchFamily="34" charset="0"/>
              <a:buChar char="•"/>
            </a:pPr>
            <a:r>
              <a:rPr lang="es-ES" sz="2400" dirty="0">
                <a:latin typeface="Lato" panose="020B0604020202020204" charset="0"/>
                <a:cs typeface="Lato" panose="020B0604020202020204" charset="0"/>
              </a:rPr>
              <a:t>de quienes han consolidado o pretenden consolidar un prestigio entre sus clientes al presentarse bajo determinadas señas de </a:t>
            </a:r>
            <a:r>
              <a:rPr lang="es-ES" sz="2400" dirty="0" smtClean="0">
                <a:latin typeface="Lato" panose="020B0604020202020204" charset="0"/>
                <a:cs typeface="Lato" panose="020B0604020202020204" charset="0"/>
              </a:rPr>
              <a:t>identificación</a:t>
            </a:r>
            <a:endParaRPr lang="es-ES" sz="2400" dirty="0">
              <a:latin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26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ctrTitle" idx="4294967295"/>
          </p:nvPr>
        </p:nvSpPr>
        <p:spPr>
          <a:xfrm>
            <a:off x="844425" y="1888150"/>
            <a:ext cx="5178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PATENTE</a:t>
            </a:r>
            <a:endParaRPr sz="7200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INVENCIÓN NUEVA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ACTIVIDAD INVENTIVA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APLICACIÓN INDUSTRIAL</a:t>
            </a:r>
            <a:endParaRPr dirty="0"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144" name="Google Shape;144;p1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errar llave 1"/>
          <p:cNvSpPr/>
          <p:nvPr/>
        </p:nvSpPr>
        <p:spPr>
          <a:xfrm>
            <a:off x="5865962" y="2904226"/>
            <a:ext cx="382018" cy="19783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342117" y="3030551"/>
            <a:ext cx="26097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20 AÑOS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DERECHO EXCLUSIVO</a:t>
            </a:r>
            <a:endParaRPr lang="es-ES" sz="2600" dirty="0">
              <a:latin typeface="Source Sans Pro" panose="020B060402020202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962" y="939874"/>
            <a:ext cx="2816171" cy="16897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ctrTitle" idx="4294967295"/>
          </p:nvPr>
        </p:nvSpPr>
        <p:spPr>
          <a:xfrm>
            <a:off x="844425" y="1888150"/>
            <a:ext cx="5178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 smtClean="0"/>
              <a:t>MODELO DE UTILIDAD</a:t>
            </a:r>
            <a:endParaRPr sz="5000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REGLA TÉCNICA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FORMA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VENTAJA TÉCNICA</a:t>
            </a:r>
            <a:endParaRPr dirty="0"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144" name="Google Shape;144;p1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errar llave 1"/>
          <p:cNvSpPr/>
          <p:nvPr/>
        </p:nvSpPr>
        <p:spPr>
          <a:xfrm>
            <a:off x="5865962" y="2904226"/>
            <a:ext cx="382018" cy="19783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378993" y="3647166"/>
            <a:ext cx="26097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>
                <a:latin typeface="Source Sans Pro" panose="020B0604020202020204" charset="0"/>
              </a:rPr>
              <a:t>1</a:t>
            </a:r>
            <a:r>
              <a:rPr lang="es-ES" sz="2600" dirty="0" smtClean="0">
                <a:latin typeface="Source Sans Pro" panose="020B0604020202020204" charset="0"/>
              </a:rPr>
              <a:t>0 AÑOS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963" y="946438"/>
            <a:ext cx="25717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17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ctrTitle" idx="4294967295"/>
          </p:nvPr>
        </p:nvSpPr>
        <p:spPr>
          <a:xfrm>
            <a:off x="844425" y="1888150"/>
            <a:ext cx="5178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 smtClean="0"/>
              <a:t>DISEÑO INDUSTRIAL</a:t>
            </a:r>
            <a:endParaRPr sz="5000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FORMAS BIDIMENSIONALES Y TRIDIMENSIONALES</a:t>
            </a:r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144" name="Google Shape;144;p1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errar llave 1"/>
          <p:cNvSpPr/>
          <p:nvPr/>
        </p:nvSpPr>
        <p:spPr>
          <a:xfrm>
            <a:off x="5865962" y="2904226"/>
            <a:ext cx="382018" cy="19783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378993" y="3647166"/>
            <a:ext cx="26097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5 AÑOS, HASTA 25 AÑOS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226" y="1068401"/>
            <a:ext cx="23336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7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ctrTitle" idx="4294967295"/>
          </p:nvPr>
        </p:nvSpPr>
        <p:spPr>
          <a:xfrm>
            <a:off x="844425" y="1888150"/>
            <a:ext cx="5178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 smtClean="0"/>
              <a:t>MARCAS</a:t>
            </a:r>
            <a:endParaRPr sz="5000" dirty="0"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4294967295"/>
          </p:nvPr>
        </p:nvSpPr>
        <p:spPr>
          <a:xfrm>
            <a:off x="844425" y="3030551"/>
            <a:ext cx="5178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REPRESENTACIÓN GRÁFICA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 smtClean="0"/>
              <a:t>IDENTIFICA PRODUCTOS O SERVICIOS</a:t>
            </a:r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144" name="Google Shape;144;p18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errar llave 1"/>
          <p:cNvSpPr/>
          <p:nvPr/>
        </p:nvSpPr>
        <p:spPr>
          <a:xfrm>
            <a:off x="5865962" y="2904226"/>
            <a:ext cx="382018" cy="19783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/>
          <p:cNvSpPr txBox="1"/>
          <p:nvPr/>
        </p:nvSpPr>
        <p:spPr>
          <a:xfrm>
            <a:off x="6378993" y="3647166"/>
            <a:ext cx="26097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600" dirty="0" smtClean="0">
                <a:latin typeface="Source Sans Pro" panose="020B0604020202020204" charset="0"/>
              </a:rPr>
              <a:t>10 AÑOS, ILIMITADO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103" y="1062674"/>
            <a:ext cx="2011680" cy="14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33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</a:t>
            </a:r>
            <a:r>
              <a:rPr lang="en" dirty="0" smtClean="0"/>
              <a:t>3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 smtClean="0"/>
              <a:t>IA</a:t>
            </a:r>
            <a:r>
              <a:rPr lang="es-ES" dirty="0" smtClean="0"/>
              <a:t> Y PROPIEDAD INTELECTUAL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893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1109932" y="1549381"/>
            <a:ext cx="6993148" cy="28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s-ES" b="1" dirty="0"/>
              <a:t>La </a:t>
            </a:r>
            <a:r>
              <a:rPr lang="es-ES" b="1" dirty="0" err="1"/>
              <a:t>IA</a:t>
            </a:r>
            <a:r>
              <a:rPr lang="es-ES" b="1" dirty="0"/>
              <a:t> tiene un potencial disruptivo y habilitador para la transformación digital, el avance científico, tecnológico, industrial, cultural y social, así como valor estratégico, que es indudable.</a:t>
            </a:r>
          </a:p>
          <a:p>
            <a:pPr marL="285750" indent="-285750"/>
            <a:r>
              <a:rPr lang="es-ES" b="1" dirty="0"/>
              <a:t>Comporta retos y riesgos que deben ser identificados y gestionados, y para los que los ordenamientos jurídicos actuales no están preparados para dar una respuesta adecuada en distintos aspectos.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0989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1109932" y="1549381"/>
            <a:ext cx="6993148" cy="28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s-ES" b="1" dirty="0"/>
              <a:t>La </a:t>
            </a:r>
            <a:r>
              <a:rPr lang="es-ES" b="1" dirty="0" err="1"/>
              <a:t>IA</a:t>
            </a:r>
            <a:r>
              <a:rPr lang="es-ES" b="1" dirty="0"/>
              <a:t> generativa se basa en el aprendizaje automático, y las herramientas que utilizan esta tecnología se entrenan a partir de cantidades ingentes de datos, entre los que se incluyen a menudo miles de millones de páginas de texto o imágenes.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834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494" name="Google Shape;494;p4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95" name="Google Shape;495;p41"/>
          <p:cNvSpPr/>
          <p:nvPr/>
        </p:nvSpPr>
        <p:spPr>
          <a:xfrm>
            <a:off x="956475" y="1363400"/>
            <a:ext cx="3550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DATOS DE ENTRADA</a:t>
            </a:r>
            <a:endParaRPr b="1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Protección de los datos de entrenamiento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4653504" y="1363400"/>
            <a:ext cx="3550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RESULTADOS</a:t>
            </a:r>
            <a:endParaRPr b="1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</a:t>
            </a:r>
            <a:r>
              <a:rPr lang="en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enerados con IA o por IA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956475" y="3121900"/>
            <a:ext cx="3550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Derechos de autor o Propiedad Industrial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SISTEMA IA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4706282" y="3121899"/>
            <a:ext cx="3550200" cy="158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¿Existen derechos?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PROMPTS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99" name="Google Shape;499;p41"/>
          <p:cNvSpPr/>
          <p:nvPr/>
        </p:nvSpPr>
        <p:spPr>
          <a:xfrm>
            <a:off x="3285625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1"/>
          <p:cNvSpPr/>
          <p:nvPr/>
        </p:nvSpPr>
        <p:spPr>
          <a:xfrm rot="5400000">
            <a:off x="3459879" y="1738389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1"/>
          <p:cNvSpPr/>
          <p:nvPr/>
        </p:nvSpPr>
        <p:spPr>
          <a:xfrm rot="10800000">
            <a:off x="3459879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1"/>
          <p:cNvSpPr/>
          <p:nvPr/>
        </p:nvSpPr>
        <p:spPr>
          <a:xfrm rot="-5400000">
            <a:off x="3285625" y="191400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1"/>
          <p:cNvSpPr/>
          <p:nvPr/>
        </p:nvSpPr>
        <p:spPr>
          <a:xfrm>
            <a:off x="3459877" y="2433515"/>
            <a:ext cx="919681" cy="46011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s-ES" b="1" i="0" dirty="0" smtClean="0">
                <a:ln>
                  <a:noFill/>
                </a:ln>
                <a:solidFill>
                  <a:schemeClr val="lt1"/>
                </a:solidFill>
                <a:latin typeface="Dosis"/>
              </a:rPr>
              <a:t>INPUTS</a:t>
            </a:r>
            <a:endParaRPr b="1" i="0" dirty="0">
              <a:ln>
                <a:noFill/>
              </a:ln>
              <a:solidFill>
                <a:schemeClr val="lt1"/>
              </a:solidFill>
              <a:latin typeface="Dosis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4706282" y="2419149"/>
            <a:ext cx="1060001" cy="4683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s-ES" b="1" i="0" dirty="0" smtClean="0">
                <a:ln>
                  <a:noFill/>
                </a:ln>
                <a:solidFill>
                  <a:schemeClr val="lt1"/>
                </a:solidFill>
                <a:latin typeface="Dosis"/>
              </a:rPr>
              <a:t>OUTPUT</a:t>
            </a:r>
            <a:endParaRPr b="1" i="0" dirty="0">
              <a:ln>
                <a:noFill/>
              </a:ln>
              <a:solidFill>
                <a:schemeClr val="lt1"/>
              </a:solidFill>
              <a:latin typeface="Dosis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3345896" y="3121899"/>
            <a:ext cx="1164465" cy="45517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s-ES" b="1" dirty="0" smtClean="0">
                <a:solidFill>
                  <a:schemeClr val="lt1"/>
                </a:solidFill>
                <a:latin typeface="Dosis"/>
              </a:rPr>
              <a:t>Sistema</a:t>
            </a:r>
            <a:endParaRPr b="1" i="0" dirty="0">
              <a:ln>
                <a:noFill/>
              </a:ln>
              <a:solidFill>
                <a:schemeClr val="lt1"/>
              </a:solidFill>
              <a:latin typeface="Dosis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4971979" y="3356672"/>
            <a:ext cx="311894" cy="45146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s-ES" b="1" i="0" dirty="0" smtClean="0">
                <a:ln>
                  <a:noFill/>
                </a:ln>
                <a:solidFill>
                  <a:schemeClr val="lt1"/>
                </a:solidFill>
                <a:latin typeface="Dosi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02882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4" y="2055692"/>
            <a:ext cx="3424189" cy="1538647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idx="2"/>
          </p:nvPr>
        </p:nvSpPr>
        <p:spPr>
          <a:xfrm>
            <a:off x="3818123" y="714430"/>
            <a:ext cx="5239108" cy="4260135"/>
          </a:xfrm>
        </p:spPr>
        <p:txBody>
          <a:bodyPr/>
          <a:lstStyle/>
          <a:p>
            <a:r>
              <a:rPr lang="es-ES" dirty="0"/>
              <a:t>El proceso de entrenamiento puede suponer UTILIZACIÓN DE DERECHOS DE TERCEROS</a:t>
            </a:r>
            <a:r>
              <a:rPr lang="es-ES" dirty="0" smtClean="0"/>
              <a:t>.</a:t>
            </a:r>
            <a:endParaRPr lang="es-ES" dirty="0"/>
          </a:p>
          <a:p>
            <a:r>
              <a:rPr lang="es-ES" dirty="0"/>
              <a:t>EEUU: Doctrina del </a:t>
            </a:r>
            <a:r>
              <a:rPr lang="es-ES" dirty="0" err="1"/>
              <a:t>FAIR</a:t>
            </a:r>
            <a:r>
              <a:rPr lang="es-ES" dirty="0"/>
              <a:t> </a:t>
            </a:r>
            <a:r>
              <a:rPr lang="es-ES" dirty="0" smtClean="0"/>
              <a:t>USE</a:t>
            </a:r>
            <a:endParaRPr lang="es-ES" dirty="0"/>
          </a:p>
          <a:p>
            <a:r>
              <a:rPr lang="es-ES" dirty="0"/>
              <a:t>Unión europea: Directiva </a:t>
            </a:r>
            <a:r>
              <a:rPr lang="es-ES" dirty="0" err="1"/>
              <a:t>MUD</a:t>
            </a:r>
            <a:r>
              <a:rPr lang="es-ES" dirty="0"/>
              <a:t> (2019) establece limitaciones al derecho de reproducción para permitir la minería de textos y datos entendido </a:t>
            </a:r>
            <a:r>
              <a:rPr lang="es-ES" dirty="0" smtClean="0"/>
              <a:t>como</a:t>
            </a:r>
            <a:endParaRPr lang="es-ES" dirty="0"/>
          </a:p>
          <a:p>
            <a:pPr marL="101600" indent="0" algn="ctr">
              <a:buNone/>
            </a:pPr>
            <a:r>
              <a:rPr lang="es-ES" dirty="0"/>
              <a:t>“</a:t>
            </a:r>
            <a:r>
              <a:rPr lang="es-ES" i="1" dirty="0"/>
              <a:t>análisis computacional automatizado de información en formato digital, por ejemplo, de textos, sonidos, imágenes o datos</a:t>
            </a:r>
            <a:r>
              <a:rPr lang="es-ES" dirty="0"/>
              <a:t>”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7" y="1907337"/>
            <a:ext cx="3567292" cy="163573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556434" y="1571352"/>
            <a:ext cx="3260035" cy="830997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Source Sans Pro" panose="020B0604020202020204" charset="0"/>
              </a:rPr>
              <a:t>CREACIONES HUMANAS ASISTIDAS POR LA </a:t>
            </a:r>
            <a:r>
              <a:rPr lang="es-ES" sz="2400" dirty="0" err="1">
                <a:latin typeface="Source Sans Pro" panose="020B0604020202020204" charset="0"/>
              </a:rPr>
              <a:t>IA</a:t>
            </a:r>
            <a:endParaRPr lang="es-ES" sz="2400" dirty="0">
              <a:latin typeface="Source Sans Pro" panose="020B060402020202020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652767" y="3423210"/>
            <a:ext cx="3163702" cy="11605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b="1" dirty="0">
                <a:latin typeface="Source Sans Pro" panose="020B0604020202020204" charset="0"/>
              </a:rPr>
              <a:t>PI TRADICIONAL</a:t>
            </a:r>
          </a:p>
        </p:txBody>
      </p:sp>
      <p:sp>
        <p:nvSpPr>
          <p:cNvPr id="10" name="Flecha abajo 9"/>
          <p:cNvSpPr/>
          <p:nvPr/>
        </p:nvSpPr>
        <p:spPr>
          <a:xfrm>
            <a:off x="5861949" y="2663697"/>
            <a:ext cx="614497" cy="605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10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7" y="1907337"/>
            <a:ext cx="3567292" cy="163573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539179" y="724501"/>
            <a:ext cx="3260035" cy="830997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Source Sans Pro" panose="020B0604020202020204" charset="0"/>
              </a:rPr>
              <a:t>CREACIONES HUMANAS ASISTIDAS POR LA </a:t>
            </a:r>
            <a:r>
              <a:rPr lang="es-ES" sz="2400" dirty="0" err="1">
                <a:latin typeface="Source Sans Pro" panose="020B0604020202020204" charset="0"/>
              </a:rPr>
              <a:t>IA</a:t>
            </a:r>
            <a:endParaRPr lang="es-ES" sz="2400" dirty="0">
              <a:latin typeface="Source Sans Pro" panose="020B060402020202020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635512" y="2259176"/>
            <a:ext cx="3163702" cy="11605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b="1" dirty="0" smtClean="0">
                <a:latin typeface="Source Sans Pro" panose="020B0604020202020204" charset="0"/>
              </a:rPr>
              <a:t>PROPIEDAD INDUSTRIAL</a:t>
            </a:r>
            <a:endParaRPr lang="es-ES" sz="2600" b="1" dirty="0">
              <a:latin typeface="Source Sans Pro" panose="020B0604020202020204" charset="0"/>
            </a:endParaRPr>
          </a:p>
        </p:txBody>
      </p:sp>
      <p:sp>
        <p:nvSpPr>
          <p:cNvPr id="10" name="Flecha abajo 9"/>
          <p:cNvSpPr/>
          <p:nvPr/>
        </p:nvSpPr>
        <p:spPr>
          <a:xfrm>
            <a:off x="5792938" y="1604735"/>
            <a:ext cx="614497" cy="605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/>
          <p:cNvSpPr txBox="1"/>
          <p:nvPr/>
        </p:nvSpPr>
        <p:spPr>
          <a:xfrm>
            <a:off x="4165368" y="3707939"/>
            <a:ext cx="4344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ource Sans Pro" panose="020B0604020202020204" charset="0"/>
              </a:rPr>
              <a:t>INVENCIÓN IMPLEMENTADA EN </a:t>
            </a:r>
            <a:r>
              <a:rPr lang="es-ES" sz="2400" b="1" dirty="0" smtClean="0">
                <a:latin typeface="Source Sans Pro" panose="020B0604020202020204" charset="0"/>
              </a:rPr>
              <a:t>ORDENADOR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165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7" y="1907337"/>
            <a:ext cx="3567292" cy="1635734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627" y="2902160"/>
            <a:ext cx="5805373" cy="1958923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4343648" y="1894207"/>
            <a:ext cx="4344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ource Sans Pro" panose="020B0604020202020204" charset="0"/>
              </a:rPr>
              <a:t>INVENCIÓN IMPLEMENTADA EN </a:t>
            </a:r>
            <a:r>
              <a:rPr lang="es-ES" sz="2400" b="1" dirty="0" smtClean="0">
                <a:latin typeface="Source Sans Pro" panose="020B0604020202020204" charset="0"/>
              </a:rPr>
              <a:t>ORDENADOR</a:t>
            </a:r>
            <a:endParaRPr lang="es-ES" sz="2400" dirty="0"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322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7" y="1907337"/>
            <a:ext cx="3567292" cy="163573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556434" y="1571352"/>
            <a:ext cx="3260035" cy="830997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Source Sans Pro" panose="020B0604020202020204" charset="0"/>
              </a:rPr>
              <a:t>CREACIONES </a:t>
            </a:r>
            <a:r>
              <a:rPr lang="es-ES" sz="2400" dirty="0" smtClean="0">
                <a:latin typeface="Source Sans Pro" panose="020B0604020202020204" charset="0"/>
              </a:rPr>
              <a:t>GENERADAS POR </a:t>
            </a:r>
            <a:r>
              <a:rPr lang="es-ES" sz="2400" dirty="0">
                <a:latin typeface="Source Sans Pro" panose="020B0604020202020204" charset="0"/>
              </a:rPr>
              <a:t>LA </a:t>
            </a:r>
            <a:r>
              <a:rPr lang="es-ES" sz="2400" dirty="0" err="1">
                <a:latin typeface="Source Sans Pro" panose="020B0604020202020204" charset="0"/>
              </a:rPr>
              <a:t>IA</a:t>
            </a:r>
            <a:endParaRPr lang="es-ES" sz="2400" dirty="0">
              <a:latin typeface="Source Sans Pro" panose="020B060402020202020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652767" y="3423210"/>
            <a:ext cx="3163702" cy="116058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b="1" dirty="0" smtClean="0">
                <a:latin typeface="Source Sans Pro" panose="020B0604020202020204" charset="0"/>
              </a:rPr>
              <a:t>RETO</a:t>
            </a:r>
            <a:endParaRPr lang="es-ES" sz="2600" b="1" dirty="0">
              <a:latin typeface="Source Sans Pro" panose="020B0604020202020204" charset="0"/>
            </a:endParaRPr>
          </a:p>
        </p:txBody>
      </p:sp>
      <p:sp>
        <p:nvSpPr>
          <p:cNvPr id="10" name="Flecha abajo 9"/>
          <p:cNvSpPr/>
          <p:nvPr/>
        </p:nvSpPr>
        <p:spPr>
          <a:xfrm>
            <a:off x="5861949" y="2663697"/>
            <a:ext cx="614497" cy="6052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769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67" y="1907337"/>
            <a:ext cx="3567292" cy="1635734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823471" y="826885"/>
            <a:ext cx="3260035" cy="830997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Source Sans Pro" panose="020B0604020202020204" charset="0"/>
              </a:rPr>
              <a:t>CREACIONES </a:t>
            </a:r>
            <a:r>
              <a:rPr lang="es-ES" sz="2400" dirty="0" smtClean="0">
                <a:latin typeface="Source Sans Pro" panose="020B0604020202020204" charset="0"/>
              </a:rPr>
              <a:t>GENERADAS POR </a:t>
            </a:r>
            <a:r>
              <a:rPr lang="es-ES" sz="2400" dirty="0">
                <a:latin typeface="Source Sans Pro" panose="020B0604020202020204" charset="0"/>
              </a:rPr>
              <a:t>LA </a:t>
            </a:r>
            <a:r>
              <a:rPr lang="es-ES" sz="2400" dirty="0" err="1">
                <a:latin typeface="Source Sans Pro" panose="020B0604020202020204" charset="0"/>
              </a:rPr>
              <a:t>IA</a:t>
            </a:r>
            <a:endParaRPr lang="es-ES" sz="2400" dirty="0">
              <a:latin typeface="Source Sans Pro" panose="020B060402020202020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636583" y="1904954"/>
            <a:ext cx="3779134" cy="1160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NO DERECHOS DE AUTOR</a:t>
            </a:r>
            <a:endParaRPr lang="es-ES" sz="2600" dirty="0">
              <a:solidFill>
                <a:schemeClr val="tx1"/>
              </a:solidFill>
              <a:latin typeface="Source Sans Pro" panose="020B060402020202020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4636583" y="3174055"/>
            <a:ext cx="3779134" cy="1778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PERSONALIDAD JURÍDICA </a:t>
            </a:r>
            <a:r>
              <a:rPr lang="es-ES" sz="2600" dirty="0" err="1" smtClean="0">
                <a:solidFill>
                  <a:schemeClr val="tx1"/>
                </a:solidFill>
                <a:latin typeface="Source Sans Pro" panose="020B0604020202020204" charset="0"/>
              </a:rPr>
              <a:t>IA</a:t>
            </a:r>
            <a:endParaRPr lang="es-ES" sz="2600" dirty="0" smtClean="0">
              <a:solidFill>
                <a:schemeClr val="tx1"/>
              </a:solidFill>
              <a:latin typeface="Source Sans Pro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NUEVO DERECHO AFÍN</a:t>
            </a:r>
            <a:endParaRPr lang="es-ES" sz="2600" dirty="0">
              <a:solidFill>
                <a:schemeClr val="tx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707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9" name="Rectángulo redondeado 8"/>
          <p:cNvSpPr/>
          <p:nvPr/>
        </p:nvSpPr>
        <p:spPr>
          <a:xfrm>
            <a:off x="4919804" y="1209039"/>
            <a:ext cx="3779134" cy="1160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DERECHOS DE AUTOR</a:t>
            </a:r>
            <a:endParaRPr lang="es-ES" sz="2600" dirty="0">
              <a:solidFill>
                <a:schemeClr val="tx1"/>
              </a:solidFill>
              <a:latin typeface="Source Sans Pro" panose="020B060402020202020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4923773" y="2755146"/>
            <a:ext cx="3779134" cy="1778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INVENCIÓN IMPLEMENTADA EN ORDENADOR</a:t>
            </a:r>
            <a:endParaRPr lang="es-ES" sz="2600" dirty="0">
              <a:solidFill>
                <a:schemeClr val="tx1"/>
              </a:solidFill>
              <a:latin typeface="Source Sans Pro" panose="020B060402020202020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3" y="1816933"/>
            <a:ext cx="41719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53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9" name="Rectángulo redondeado 8"/>
          <p:cNvSpPr/>
          <p:nvPr/>
        </p:nvSpPr>
        <p:spPr>
          <a:xfrm>
            <a:off x="4919804" y="1209039"/>
            <a:ext cx="3779134" cy="11605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600" dirty="0" smtClean="0">
                <a:solidFill>
                  <a:schemeClr val="tx1"/>
                </a:solidFill>
                <a:latin typeface="Source Sans Pro" panose="020B0604020202020204" charset="0"/>
              </a:rPr>
              <a:t>DERECHOS DE AUTOR</a:t>
            </a:r>
            <a:endParaRPr lang="es-ES" sz="2600" dirty="0">
              <a:solidFill>
                <a:schemeClr val="tx1"/>
              </a:solidFill>
              <a:latin typeface="Source Sans Pro" panose="020B060402020202020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0" y="1969103"/>
            <a:ext cx="4238625" cy="1933575"/>
          </a:xfrm>
          <a:prstGeom prst="rect">
            <a:avLst/>
          </a:prstGeom>
        </p:spPr>
      </p:pic>
      <p:sp>
        <p:nvSpPr>
          <p:cNvPr id="4" name="Botón de acción: Ayuda 3">
            <a:hlinkClick r:id="" action="ppaction://noaction" highlightClick="1"/>
          </p:cNvPr>
          <p:cNvSpPr/>
          <p:nvPr/>
        </p:nvSpPr>
        <p:spPr>
          <a:xfrm>
            <a:off x="6028490" y="2816027"/>
            <a:ext cx="1561762" cy="1335186"/>
          </a:xfrm>
          <a:prstGeom prst="actionButtonHelp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712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IA Y PROPIEDAD INTELECTUAL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80" y="1106655"/>
            <a:ext cx="7139289" cy="39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77556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663</Words>
  <Application>Microsoft Office PowerPoint</Application>
  <PresentationFormat>Presentación en pantalla (16:9)</PresentationFormat>
  <Paragraphs>176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Lato</vt:lpstr>
      <vt:lpstr>Calibri</vt:lpstr>
      <vt:lpstr>Dosis</vt:lpstr>
      <vt:lpstr>Arial</vt:lpstr>
      <vt:lpstr>Source Sans Pro</vt:lpstr>
      <vt:lpstr>Montserrat</vt:lpstr>
      <vt:lpstr>Cerimon template</vt:lpstr>
      <vt:lpstr>IA Y PROPIEDAD INTELECTUAL</vt:lpstr>
      <vt:lpstr>Tema 3</vt:lpstr>
      <vt:lpstr>CONTEXTO</vt:lpstr>
      <vt:lpstr>CONTEXTO</vt:lpstr>
      <vt:lpstr>Tema 3</vt:lpstr>
      <vt:lpstr>CONCEPTOS BÁSICOS PI</vt:lpstr>
      <vt:lpstr>CONCEPTO BÁSICOS</vt:lpstr>
      <vt:lpstr>CONCEPTOS BÁSICOS: DERECHOS DE AUTOR</vt:lpstr>
      <vt:lpstr>CONCEPTOS BÁSICOS: PROPIEDAD INDUSTRIAL</vt:lpstr>
      <vt:lpstr>Tema 3</vt:lpstr>
      <vt:lpstr>DERECHOS DE AUTOR</vt:lpstr>
      <vt:lpstr>DERECHOS DE AUTOR</vt:lpstr>
      <vt:lpstr>DERECHOS DE AUTOR</vt:lpstr>
      <vt:lpstr>Tema 3</vt:lpstr>
      <vt:lpstr>PROPIEDAD INDUSTRIAL</vt:lpstr>
      <vt:lpstr>PATENTE</vt:lpstr>
      <vt:lpstr>MODELO DE UTILIDAD</vt:lpstr>
      <vt:lpstr>DISEÑO INDUSTRIAL</vt:lpstr>
      <vt:lpstr>MARCAS</vt:lpstr>
      <vt:lpstr>Tema 3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  <vt:lpstr>IA Y PROPIEDAD INTELECTUAL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dc:creator>Aurea</dc:creator>
  <cp:lastModifiedBy>AUREA MARIA ANGUERA DE SOJO HERNANDEZ</cp:lastModifiedBy>
  <cp:revision>34</cp:revision>
  <dcterms:modified xsi:type="dcterms:W3CDTF">2025-04-09T15:04:45Z</dcterms:modified>
</cp:coreProperties>
</file>