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8"/>
  </p:notesMasterIdLst>
  <p:sldIdLst>
    <p:sldId id="297" r:id="rId2"/>
    <p:sldId id="259" r:id="rId3"/>
    <p:sldId id="298" r:id="rId4"/>
    <p:sldId id="316" r:id="rId5"/>
    <p:sldId id="311" r:id="rId6"/>
    <p:sldId id="326" r:id="rId7"/>
    <p:sldId id="312" r:id="rId8"/>
    <p:sldId id="305" r:id="rId9"/>
    <p:sldId id="313" r:id="rId10"/>
    <p:sldId id="314" r:id="rId11"/>
    <p:sldId id="315" r:id="rId12"/>
    <p:sldId id="325" r:id="rId13"/>
    <p:sldId id="317" r:id="rId14"/>
    <p:sldId id="318" r:id="rId15"/>
    <p:sldId id="319" r:id="rId16"/>
    <p:sldId id="320" r:id="rId17"/>
  </p:sldIdLst>
  <p:sldSz cx="9144000" cy="5143500" type="screen16x9"/>
  <p:notesSz cx="6858000" cy="9144000"/>
  <p:embeddedFontLst>
    <p:embeddedFont>
      <p:font typeface="Dosis" pitchFamily="2" charset="77"/>
      <p:regular r:id="rId19"/>
      <p:bold r:id="rId20"/>
    </p:embeddedFont>
    <p:embeddedFont>
      <p:font typeface="Montserrat" pitchFamily="2" charset="77"/>
      <p:regular r:id="rId21"/>
      <p:bold r:id="rId22"/>
      <p:italic r:id="rId23"/>
      <p:boldItalic r:id="rId24"/>
    </p:embeddedFont>
    <p:embeddedFont>
      <p:font typeface="Source Sans Pro" panose="020B0503030403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96514-1AA1-4EE5-A447-7E556EC08B63}">
  <a:tblStyle styleId="{B3896514-1AA1-4EE5-A447-7E556EC08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E65728-0D21-4A9D-A831-D487195EC54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68"/>
    <p:restoredTop sz="94714"/>
  </p:normalViewPr>
  <p:slideViewPr>
    <p:cSldViewPr snapToGrid="0">
      <p:cViewPr varScale="1">
        <p:scale>
          <a:sx n="164" d="100"/>
          <a:sy n="164" d="100"/>
        </p:scale>
        <p:origin x="18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62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74381838-D754-321A-7D74-AA252358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d75ccf_015:notes">
            <a:extLst>
              <a:ext uri="{FF2B5EF4-FFF2-40B4-BE49-F238E27FC236}">
                <a16:creationId xmlns:a16="http://schemas.microsoft.com/office/drawing/2014/main" id="{5605725F-1E77-9DEB-622F-4433E169E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ed75ccf_015:notes">
            <a:extLst>
              <a:ext uri="{FF2B5EF4-FFF2-40B4-BE49-F238E27FC236}">
                <a16:creationId xmlns:a16="http://schemas.microsoft.com/office/drawing/2014/main" id="{4AEFE2B5-B88A-A36E-ECB8-DD34A9E7F4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87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A7EF943D-F58D-7407-BA54-456540EB1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d75ccf_015:notes">
            <a:extLst>
              <a:ext uri="{FF2B5EF4-FFF2-40B4-BE49-F238E27FC236}">
                <a16:creationId xmlns:a16="http://schemas.microsoft.com/office/drawing/2014/main" id="{8DC814B3-4549-FB78-9FE7-11FED416D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ed75ccf_015:notes">
            <a:extLst>
              <a:ext uri="{FF2B5EF4-FFF2-40B4-BE49-F238E27FC236}">
                <a16:creationId xmlns:a16="http://schemas.microsoft.com/office/drawing/2014/main" id="{9FC0E76F-8480-9901-D59D-598DE12946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667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6052E542-7EDE-BCD7-6C41-DEEB6BBD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d75ccf_015:notes">
            <a:extLst>
              <a:ext uri="{FF2B5EF4-FFF2-40B4-BE49-F238E27FC236}">
                <a16:creationId xmlns:a16="http://schemas.microsoft.com/office/drawing/2014/main" id="{8B371AE0-4E55-F1E2-CD39-A17AE2903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ed75ccf_015:notes">
            <a:extLst>
              <a:ext uri="{FF2B5EF4-FFF2-40B4-BE49-F238E27FC236}">
                <a16:creationId xmlns:a16="http://schemas.microsoft.com/office/drawing/2014/main" id="{CF1C455B-A989-5C31-3496-F59343B93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0721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-150" y="4156675"/>
            <a:ext cx="9144000" cy="27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-150" y="0"/>
            <a:ext cx="9144000" cy="41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525225"/>
            <a:ext cx="5309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 rot="10800000">
            <a:off x="-150" y="3082200"/>
            <a:ext cx="9144000" cy="6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 flipH="1">
            <a:off x="-150" y="0"/>
            <a:ext cx="9144000" cy="30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▹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⬩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⬞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1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ans Pro"/>
              <a:buChar char="▹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▸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⬩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⬞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13" name="Imagen 12" descr="Texto&#10;&#10;Descripción generada automáticamente con confianza baja">
            <a:extLst>
              <a:ext uri="{FF2B5EF4-FFF2-40B4-BE49-F238E27FC236}">
                <a16:creationId xmlns:a16="http://schemas.microsoft.com/office/drawing/2014/main" id="{12E5CF5E-C549-0442-C138-7119D0FC519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386738" y="69199"/>
            <a:ext cx="1650258" cy="60662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7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ctrTitle"/>
          </p:nvPr>
        </p:nvSpPr>
        <p:spPr>
          <a:xfrm>
            <a:off x="791300" y="1513738"/>
            <a:ext cx="4677000" cy="16767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>
                <a:latin typeface="Montserrat"/>
                <a:ea typeface="Montserrat"/>
                <a:cs typeface="Montserrat"/>
                <a:sym typeface="Montserrat"/>
              </a:rPr>
              <a:t>Ética para la inteligencia artificial</a:t>
            </a:r>
          </a:p>
        </p:txBody>
      </p:sp>
      <p:pic>
        <p:nvPicPr>
          <p:cNvPr id="78" name="Google Shape;7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4150"/>
            <a:ext cx="1478604" cy="68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n 17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796EB558-2C22-596B-87F3-25680CCB5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853" y="480064"/>
            <a:ext cx="3201222" cy="3201222"/>
          </a:xfrm>
          <a:prstGeom prst="rect">
            <a:avLst/>
          </a:prstGeom>
        </p:spPr>
      </p:pic>
      <p:pic>
        <p:nvPicPr>
          <p:cNvPr id="20" name="Imagen 19" descr="Texto&#10;&#10;Descripción generada automáticamente con confianza baja">
            <a:extLst>
              <a:ext uri="{FF2B5EF4-FFF2-40B4-BE49-F238E27FC236}">
                <a16:creationId xmlns:a16="http://schemas.microsoft.com/office/drawing/2014/main" id="{33E645A4-D3CF-8E92-8C71-2BE57102A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525" y="4456937"/>
            <a:ext cx="1793681" cy="659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5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Ética</a:t>
            </a:r>
            <a:r>
              <a:rPr lang="en" dirty="0"/>
              <a:t> del </a:t>
            </a:r>
            <a:r>
              <a:rPr lang="en" dirty="0" err="1"/>
              <a:t>diseño</a:t>
            </a:r>
            <a:r>
              <a:rPr lang="en" dirty="0"/>
              <a:t> y </a:t>
            </a:r>
            <a:r>
              <a:rPr lang="en" dirty="0" err="1"/>
              <a:t>ética</a:t>
            </a:r>
            <a:r>
              <a:rPr lang="en" dirty="0"/>
              <a:t> de </a:t>
            </a:r>
            <a:r>
              <a:rPr lang="en" dirty="0" err="1"/>
              <a:t>usos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ÍNDICE</a:t>
            </a:r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▹"/>
            </a:pPr>
            <a:r>
              <a:rPr lang="es-ES" dirty="0"/>
              <a:t>Reglamento de la UE (I)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93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9A2CA533-76DF-EEF6-953B-7FD83D58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93C7BE97-BB07-7904-B07F-4475D02F6EF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44424" y="1888150"/>
            <a:ext cx="6123445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err="1"/>
              <a:t>Reglamentos</a:t>
            </a:r>
            <a:r>
              <a:rPr lang="en" sz="7200" dirty="0"/>
              <a:t> UE</a:t>
            </a:r>
            <a:endParaRPr sz="7200" dirty="0"/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C6268937-2678-AF99-AD1A-AB9FE98227B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44425" y="3030551"/>
            <a:ext cx="5178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/>
              <a:t>Directrices éticas para una IA fiable (2021)</a:t>
            </a:r>
            <a:endParaRPr dirty="0"/>
          </a:p>
        </p:txBody>
      </p:sp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79CBC82F-98AC-8202-AA71-E2F1587803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996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77392-D94A-2F1C-EF77-2EE26F892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PROBLEMAS ÉTICOS DE LA INTELIGENCIA ARTIFICIAL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94F9B1-7F26-CC90-BAE3-00A27131F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Seguridad</a:t>
            </a:r>
          </a:p>
          <a:p>
            <a:r>
              <a:rPr lang="es-ES" dirty="0"/>
              <a:t>Prevención de riesgos</a:t>
            </a:r>
          </a:p>
          <a:p>
            <a:r>
              <a:rPr lang="es-ES" dirty="0"/>
              <a:t>Uso dual</a:t>
            </a:r>
          </a:p>
          <a:p>
            <a:r>
              <a:rPr lang="es-ES" dirty="0"/>
              <a:t>Confidencialidad</a:t>
            </a:r>
          </a:p>
          <a:p>
            <a:r>
              <a:rPr lang="es-ES" dirty="0"/>
              <a:t>Privacidad</a:t>
            </a:r>
          </a:p>
          <a:p>
            <a:r>
              <a:rPr lang="es-ES" dirty="0"/>
              <a:t>Propiedad Intelectual</a:t>
            </a:r>
          </a:p>
          <a:p>
            <a:r>
              <a:rPr lang="es-ES" dirty="0"/>
              <a:t>No discriminación, inclusión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13F6C2-F998-BA40-C791-8E66803E28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511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91D2E-B768-9CF7-0572-CB43BF39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Principios éticos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A94AAD-F8F1-5F16-159E-E1066CD8A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5" y="1538075"/>
            <a:ext cx="8028270" cy="33879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s-ES" sz="2400" dirty="0"/>
              <a:t>Respecto a la autonomía humana y a los Derechos fundamentales</a:t>
            </a:r>
          </a:p>
          <a:p>
            <a:pPr>
              <a:buFont typeface="+mj-lt"/>
              <a:buAutoNum type="arabicPeriod"/>
            </a:pPr>
            <a:r>
              <a:rPr lang="es-ES" dirty="0"/>
              <a:t>Privacidad y Gobernanza de los Datos</a:t>
            </a:r>
            <a:endParaRPr lang="es-ES" sz="2400" dirty="0"/>
          </a:p>
          <a:p>
            <a:pPr>
              <a:buFont typeface="+mj-lt"/>
              <a:buAutoNum type="arabicPeriod"/>
            </a:pPr>
            <a:r>
              <a:rPr lang="es-ES" dirty="0"/>
              <a:t>Igualdad de oportunidades</a:t>
            </a:r>
            <a:endParaRPr lang="es-ES" sz="2400" dirty="0"/>
          </a:p>
          <a:p>
            <a:pPr>
              <a:buFont typeface="+mj-lt"/>
              <a:buAutoNum type="arabicPeriod"/>
            </a:pPr>
            <a:r>
              <a:rPr lang="es-ES" sz="2400" dirty="0"/>
              <a:t>Bienestar Individual, Social y ambiental. </a:t>
            </a:r>
          </a:p>
          <a:p>
            <a:pPr>
              <a:buFont typeface="+mj-lt"/>
              <a:buAutoNum type="arabicPeriod"/>
            </a:pPr>
            <a:r>
              <a:rPr lang="es-ES" dirty="0"/>
              <a:t>Transparencia</a:t>
            </a:r>
          </a:p>
          <a:p>
            <a:pPr>
              <a:buFont typeface="+mj-lt"/>
              <a:buAutoNum type="arabicPeriod"/>
            </a:pPr>
            <a:r>
              <a:rPr lang="es-ES" sz="2400" dirty="0"/>
              <a:t>Responsabilidad y supervisión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CA0288-B8CA-6680-E9DD-75D0CD53CC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4930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3B5CF-16EB-BE71-939A-ADC5BD9BB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25" y="5598"/>
            <a:ext cx="3893830" cy="1140000"/>
          </a:xfrm>
        </p:spPr>
        <p:txBody>
          <a:bodyPr/>
          <a:lstStyle/>
          <a:p>
            <a:r>
              <a:rPr lang="es-ES" dirty="0"/>
              <a:t>PROPUESTAS PARA INCLUIR LA ÉTICA EN LOS SISTEMAS 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119F69-4A05-8A7D-B6BC-D70D23905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5" y="1538075"/>
            <a:ext cx="3552600" cy="3387900"/>
          </a:xfrm>
        </p:spPr>
        <p:txBody>
          <a:bodyPr/>
          <a:lstStyle/>
          <a:p>
            <a:r>
              <a:rPr lang="es-ES" dirty="0"/>
              <a:t>MÉTODOS TÉCNICOS:</a:t>
            </a:r>
          </a:p>
          <a:p>
            <a:pPr lvl="1"/>
            <a:r>
              <a:rPr lang="es-ES" dirty="0" err="1"/>
              <a:t>Ethics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design</a:t>
            </a:r>
            <a:endParaRPr lang="es-ES" dirty="0"/>
          </a:p>
          <a:p>
            <a:pPr lvl="1"/>
            <a:r>
              <a:rPr lang="es-ES" dirty="0"/>
              <a:t>IA Explicable</a:t>
            </a:r>
          </a:p>
          <a:p>
            <a:pPr lvl="1"/>
            <a:r>
              <a:rPr lang="es-ES" dirty="0"/>
              <a:t>Prueba y Validación del producto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B503A4-632A-1B62-4CD6-05D69BC244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7</a:t>
            </a:fld>
            <a:endParaRPr lang="es-ES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8609337F-AA60-6EA5-2084-B6D779D4442F}"/>
              </a:ext>
            </a:extLst>
          </p:cNvPr>
          <p:cNvSpPr txBox="1">
            <a:spLocks/>
          </p:cNvSpPr>
          <p:nvPr/>
        </p:nvSpPr>
        <p:spPr>
          <a:xfrm>
            <a:off x="4571999" y="1538075"/>
            <a:ext cx="4248727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▹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▸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⬩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⬞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●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Char char="■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es-ES" dirty="0"/>
              <a:t>MÉTODOS NO TÉCNICOS:</a:t>
            </a:r>
          </a:p>
          <a:p>
            <a:pPr lvl="1"/>
            <a:r>
              <a:rPr lang="es-ES" dirty="0"/>
              <a:t>Regulación</a:t>
            </a:r>
          </a:p>
          <a:p>
            <a:pPr lvl="1"/>
            <a:r>
              <a:rPr lang="es-ES" dirty="0"/>
              <a:t>Certificaciones</a:t>
            </a:r>
          </a:p>
          <a:p>
            <a:pPr lvl="1"/>
            <a:r>
              <a:rPr lang="es-ES" dirty="0"/>
              <a:t>Auditorías</a:t>
            </a:r>
          </a:p>
          <a:p>
            <a:pPr lvl="1"/>
            <a:r>
              <a:rPr lang="es-ES" dirty="0"/>
              <a:t>Educación y sensibilización</a:t>
            </a:r>
          </a:p>
          <a:p>
            <a:pPr lvl="1"/>
            <a:r>
              <a:rPr lang="es-ES" dirty="0"/>
              <a:t>Investigación</a:t>
            </a:r>
          </a:p>
          <a:p>
            <a:pPr lvl="1"/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4739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2B389D32-523A-ED1F-19C5-A2450013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0798A7C9-7E29-3EFF-0946-F5802D8323D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44424" y="1888150"/>
            <a:ext cx="6433831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err="1"/>
              <a:t>Métodos</a:t>
            </a:r>
            <a:r>
              <a:rPr lang="en" sz="7200" dirty="0"/>
              <a:t> </a:t>
            </a:r>
            <a:r>
              <a:rPr lang="en" sz="7200" dirty="0" err="1"/>
              <a:t>técnicos</a:t>
            </a:r>
            <a:endParaRPr sz="7200" dirty="0"/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53122B93-4B2B-4B8A-822B-F584A384F38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44425" y="3030551"/>
            <a:ext cx="5178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1F0B8784-8FEE-58F9-E2EE-B68AF151C3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744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146BA-D976-525B-205D-2CA63482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Ethics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design</a:t>
            </a:r>
            <a:r>
              <a:rPr lang="es-ES" dirty="0"/>
              <a:t>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74AE81-E0B8-5ACB-EB5B-E9A1C47A8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5" y="1538075"/>
            <a:ext cx="7108084" cy="3387900"/>
          </a:xfrm>
        </p:spPr>
        <p:txBody>
          <a:bodyPr/>
          <a:lstStyle/>
          <a:p>
            <a:r>
              <a:rPr lang="es-ES" dirty="0"/>
              <a:t>se trata de uno de los métodos que más atención ha recibido en los últimos años. </a:t>
            </a:r>
          </a:p>
          <a:p>
            <a:r>
              <a:rPr lang="es-ES" dirty="0"/>
              <a:t>Mediante el diseño previo de los algoritmos que controlan los sistemas inteligentes, se podría garantizar el comportamiento ético de estos.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C148AF-65B8-BB90-B54B-3D3EB37A1C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0507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1BBC8-8F2F-B2CD-E8A1-282947923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IA Explicable (XAI)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AD31AF-ADF1-E073-0FD7-EC0481B25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5" y="1538075"/>
            <a:ext cx="6710920" cy="3387900"/>
          </a:xfrm>
        </p:spPr>
        <p:txBody>
          <a:bodyPr/>
          <a:lstStyle/>
          <a:p>
            <a:r>
              <a:rPr lang="es-ES" dirty="0"/>
              <a:t>Se han propuesto distintos métodos para convertir muchos de los actuales sistemas de IA en arquitecturas transparentes que dispongan de mecanismos para mostrar de forma clara su funcionamiento y su razonamiento internos.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F39FD5-9133-E949-6FA2-F9F78CDE7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2778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8024D-25C6-7EFF-CEA8-4927FDE47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24" y="5598"/>
            <a:ext cx="3976957" cy="1140000"/>
          </a:xfrm>
        </p:spPr>
        <p:txBody>
          <a:bodyPr/>
          <a:lstStyle/>
          <a:p>
            <a:r>
              <a:rPr lang="es-ES" dirty="0"/>
              <a:t>Prueba y Validación del producto</a:t>
            </a:r>
            <a:endParaRPr lang="es-ES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1EFFC6-B79D-978E-0CE3-C52990280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4" y="1538075"/>
            <a:ext cx="7902411" cy="3387900"/>
          </a:xfrm>
        </p:spPr>
        <p:txBody>
          <a:bodyPr/>
          <a:lstStyle/>
          <a:p>
            <a:r>
              <a:rPr lang="es-ES" dirty="0"/>
              <a:t>Para garantizar la seguridad de los dispositivos y asegurar que su diseño y programación responda adecuadamente  a lo planeado es someter los distintos dispositivos a mecanismos de examen y validación. 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B4F52F-C0AF-BBAE-E847-7A23A99743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86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1F42ED09-85E2-732F-EE9A-FE9FD5427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1FA97FC4-C072-4AC6-24FD-78B3CF5CDF6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44423" y="1888150"/>
            <a:ext cx="7265103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err="1"/>
              <a:t>Métodos</a:t>
            </a:r>
            <a:r>
              <a:rPr lang="en" sz="7200" dirty="0"/>
              <a:t> no </a:t>
            </a:r>
            <a:r>
              <a:rPr lang="en" sz="7200" dirty="0" err="1"/>
              <a:t>técnicos</a:t>
            </a:r>
            <a:endParaRPr sz="7200" dirty="0"/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A60A18F5-FFE0-F6E0-2A6E-B482AB84F65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44425" y="3030551"/>
            <a:ext cx="5178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CC9B7A48-A0AF-3603-70A2-41F39D22F8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0263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2B16A-FFB7-84A2-3C48-045C46B14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Regulación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307AC-FEB1-3E9D-8283-1DDEFCE3A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5" y="1538075"/>
            <a:ext cx="6701684" cy="3387900"/>
          </a:xfrm>
        </p:spPr>
        <p:txBody>
          <a:bodyPr/>
          <a:lstStyle/>
          <a:p>
            <a:r>
              <a:rPr lang="es-ES" dirty="0"/>
              <a:t>La labor regulatoria y legislativa puede contribuir a establecer unos parámetros de seguridad y operatividad claros y definidos. </a:t>
            </a:r>
          </a:p>
          <a:p>
            <a:r>
              <a:rPr lang="es-ES" dirty="0"/>
              <a:t>Los Gobiernos y agencias de regulación cuentan con medios como tratados internacionales y resoluciones, procesos de estandarización, directrices y normas no vinculantes, o contratos.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A68B6-42A5-A961-34AB-869C307349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5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F5C02-4658-A226-9E7E-56DEDAF0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Certificaciones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AD1B5C-F238-F9C6-5BFE-34F9DB354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4" y="1538075"/>
            <a:ext cx="6720157" cy="3387900"/>
          </a:xfrm>
        </p:spPr>
        <p:txBody>
          <a:bodyPr/>
          <a:lstStyle/>
          <a:p>
            <a:r>
              <a:rPr lang="es-ES" dirty="0"/>
              <a:t>Otra manera de garantizar la fiabilidad y seguridad de las aplicaciones provistas de IA, y de fomentar, la confianza de los usuarios, es la de emitir certificaciones específicas por parte de las empresas desarrolladoras. Estas certificaciones podrían traducir los distintos estándares en materia de seguridad, transparencia o fiabilidad.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43D245-CE98-D753-0301-253231F8C1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8638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D181C-002F-9C23-3765-276366246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Educación y sensibilización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B4845B-F40F-5FCD-1408-311EDC6F4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5" y="1538075"/>
            <a:ext cx="6618557" cy="3387900"/>
          </a:xfrm>
        </p:spPr>
        <p:txBody>
          <a:bodyPr/>
          <a:lstStyle/>
          <a:p>
            <a:r>
              <a:rPr lang="es-ES" dirty="0"/>
              <a:t>La educación y la comunicación pueden contribuir a crear una mayor conciencia en torno a los potenciales riesgos que esta tecnología.</a:t>
            </a:r>
          </a:p>
          <a:p>
            <a:r>
              <a:rPr lang="es-ES" dirty="0"/>
              <a:t>Debe alcanzar a todos los grupos de interés y  hacer que todos ellos adopten un papel más activo en la creación y el empleo de dispositivos inteligentes.</a:t>
            </a:r>
            <a:br>
              <a:rPr lang="es-ES" dirty="0"/>
            </a:b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94127B-9A1D-4991-B268-9DD2E705FB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1640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D08E5-30C4-30AC-2737-481A2348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Investigación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A1B150-0000-D495-553D-757A8496C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4" y="1538075"/>
            <a:ext cx="6600085" cy="3387900"/>
          </a:xfrm>
        </p:spPr>
        <p:txBody>
          <a:bodyPr/>
          <a:lstStyle/>
          <a:p>
            <a:r>
              <a:rPr lang="es-ES" dirty="0"/>
              <a:t>Otra manera de garantizar que la IA se siga desarrollando de manera fiable y segura es la de asegurar que la ética y el buen gobierno acompañen siempre a los temas de investigación en IA.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3B198C-BE11-DB3C-E3FE-8E81E4DEE1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9471834"/>
      </p:ext>
    </p:extLst>
  </p:cSld>
  <p:clrMapOvr>
    <a:masterClrMapping/>
  </p:clrMapOvr>
</p:sld>
</file>

<file path=ppt/theme/theme1.xml><?xml version="1.0" encoding="utf-8"?>
<a:theme xmlns:a="http://schemas.openxmlformats.org/drawingml/2006/main" name="Cerimon template">
  <a:themeElements>
    <a:clrScheme name="Custom 347">
      <a:dk1>
        <a:srgbClr val="415665"/>
      </a:dk1>
      <a:lt1>
        <a:srgbClr val="FFFFFF"/>
      </a:lt1>
      <a:dk2>
        <a:srgbClr val="0DB7C4"/>
      </a:dk2>
      <a:lt2>
        <a:srgbClr val="F6F6F6"/>
      </a:lt2>
      <a:accent1>
        <a:srgbClr val="0A95B0"/>
      </a:accent1>
      <a:accent2>
        <a:srgbClr val="A7E5E9"/>
      </a:accent2>
      <a:accent3>
        <a:srgbClr val="A9D039"/>
      </a:accent3>
      <a:accent4>
        <a:srgbClr val="FFBC00"/>
      </a:accent4>
      <a:accent5>
        <a:srgbClr val="F24745"/>
      </a:accent5>
      <a:accent6>
        <a:srgbClr val="B3B3B3"/>
      </a:accent6>
      <a:hlink>
        <a:srgbClr val="0DB7C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449</Words>
  <Application>Microsoft Macintosh PowerPoint</Application>
  <PresentationFormat>Presentación en pantalla (16:9)</PresentationFormat>
  <Paragraphs>68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Montserrat</vt:lpstr>
      <vt:lpstr>Source Sans Pro</vt:lpstr>
      <vt:lpstr>Arial</vt:lpstr>
      <vt:lpstr>Dosis</vt:lpstr>
      <vt:lpstr>Cerimon template</vt:lpstr>
      <vt:lpstr>Ética para la inteligencia artificial</vt:lpstr>
      <vt:lpstr>Tema 5</vt:lpstr>
      <vt:lpstr>ÍNDICE</vt:lpstr>
      <vt:lpstr>Reglamentos UE</vt:lpstr>
      <vt:lpstr>PROBLEMAS ÉTICOS DE LA INTELIGENCIA ARTIFICIAL</vt:lpstr>
      <vt:lpstr>Principios éticos</vt:lpstr>
      <vt:lpstr>PROPUESTAS PARA INCLUIR LA ÉTICA EN LOS SISTEMAS IA</vt:lpstr>
      <vt:lpstr>Métodos técnicos</vt:lpstr>
      <vt:lpstr>Ethics by design:</vt:lpstr>
      <vt:lpstr>IA Explicable (XAI)</vt:lpstr>
      <vt:lpstr>Prueba y Validación del producto</vt:lpstr>
      <vt:lpstr>Métodos no técnicos</vt:lpstr>
      <vt:lpstr>Regulación</vt:lpstr>
      <vt:lpstr>Certificaciones</vt:lpstr>
      <vt:lpstr>Educación y sensibilización</vt:lpstr>
      <vt:lpstr>Investigación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Malicious actors profiling and detection in Online Social Networks through Artificial Intelligence</dc:title>
  <cp:lastModifiedBy>SERGIO ALEJANDRO D ANTONIO MACEIRAS</cp:lastModifiedBy>
  <cp:revision>11</cp:revision>
  <dcterms:modified xsi:type="dcterms:W3CDTF">2026-03-11T14:47:25Z</dcterms:modified>
</cp:coreProperties>
</file>