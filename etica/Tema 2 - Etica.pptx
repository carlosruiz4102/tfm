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97" r:id="rId2"/>
    <p:sldId id="259" r:id="rId3"/>
    <p:sldId id="298" r:id="rId4"/>
    <p:sldId id="299" r:id="rId5"/>
    <p:sldId id="300" r:id="rId6"/>
    <p:sldId id="324" r:id="rId7"/>
    <p:sldId id="301" r:id="rId8"/>
    <p:sldId id="302" r:id="rId9"/>
    <p:sldId id="304" r:id="rId10"/>
    <p:sldId id="303" r:id="rId11"/>
    <p:sldId id="307" r:id="rId12"/>
    <p:sldId id="308" r:id="rId13"/>
  </p:sldIdLst>
  <p:sldSz cx="9144000" cy="5143500" type="screen16x9"/>
  <p:notesSz cx="6858000" cy="9144000"/>
  <p:embeddedFontLst>
    <p:embeddedFont>
      <p:font typeface="Dosis" pitchFamily="2" charset="77"/>
      <p:regular r:id="rId15"/>
      <p:bold r:id="rId16"/>
    </p:embeddedFont>
    <p:embeddedFont>
      <p:font typeface="Montserrat" pitchFamily="2" charset="77"/>
      <p:regular r:id="rId17"/>
      <p:bold r:id="rId18"/>
      <p:italic r:id="rId19"/>
      <p:boldItalic r:id="rId20"/>
    </p:embeddedFont>
    <p:embeddedFont>
      <p:font typeface="Source Sans Pro" panose="020B0503030403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96514-1AA1-4EE5-A447-7E556EC08B63}">
  <a:tblStyle styleId="{B3896514-1AA1-4EE5-A447-7E556EC08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65728-0D21-4A9D-A831-D487195EC5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99"/>
    <p:restoredTop sz="94714"/>
  </p:normalViewPr>
  <p:slideViewPr>
    <p:cSldViewPr snapToGrid="0">
      <p:cViewPr varScale="1">
        <p:scale>
          <a:sx n="162" d="100"/>
          <a:sy n="162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ALEJANDRO D ANTONIO MACEIRAS" userId="37b38641-b999-4aca-8435-552cd1cad571" providerId="ADAL" clId="{4DCD8E5A-A509-5B80-8AF6-837E1C843A7A}"/>
    <pc:docChg chg="delSld modSld">
      <pc:chgData name="SERGIO ALEJANDRO D ANTONIO MACEIRAS" userId="37b38641-b999-4aca-8435-552cd1cad571" providerId="ADAL" clId="{4DCD8E5A-A509-5B80-8AF6-837E1C843A7A}" dt="2026-03-11T14:46:08.175" v="16" actId="2696"/>
      <pc:docMkLst>
        <pc:docMk/>
      </pc:docMkLst>
      <pc:sldChg chg="del">
        <pc:chgData name="SERGIO ALEJANDRO D ANTONIO MACEIRAS" userId="37b38641-b999-4aca-8435-552cd1cad571" providerId="ADAL" clId="{4DCD8E5A-A509-5B80-8AF6-837E1C843A7A}" dt="2026-03-11T14:46:08.160" v="15" actId="2696"/>
        <pc:sldMkLst>
          <pc:docMk/>
          <pc:sldMk cId="2427443802" sldId="305"/>
        </pc:sldMkLst>
      </pc:sldChg>
      <pc:sldChg chg="del">
        <pc:chgData name="SERGIO ALEJANDRO D ANTONIO MACEIRAS" userId="37b38641-b999-4aca-8435-552cd1cad571" providerId="ADAL" clId="{4DCD8E5A-A509-5B80-8AF6-837E1C843A7A}" dt="2026-03-11T14:46:08.125" v="11" actId="2696"/>
        <pc:sldMkLst>
          <pc:docMk/>
          <pc:sldMk cId="2138383891" sldId="309"/>
        </pc:sldMkLst>
      </pc:sldChg>
      <pc:sldChg chg="del">
        <pc:chgData name="SERGIO ALEJANDRO D ANTONIO MACEIRAS" userId="37b38641-b999-4aca-8435-552cd1cad571" providerId="ADAL" clId="{4DCD8E5A-A509-5B80-8AF6-837E1C843A7A}" dt="2026-03-11T14:46:08.175" v="16" actId="2696"/>
        <pc:sldMkLst>
          <pc:docMk/>
          <pc:sldMk cId="3560349767" sldId="310"/>
        </pc:sldMkLst>
      </pc:sldChg>
      <pc:sldChg chg="modSp del mod">
        <pc:chgData name="SERGIO ALEJANDRO D ANTONIO MACEIRAS" userId="37b38641-b999-4aca-8435-552cd1cad571" providerId="ADAL" clId="{4DCD8E5A-A509-5B80-8AF6-837E1C843A7A}" dt="2026-03-11T14:46:08.112" v="7" actId="2696"/>
        <pc:sldMkLst>
          <pc:docMk/>
          <pc:sldMk cId="2894511129" sldId="311"/>
        </pc:sldMkLst>
        <pc:spChg chg="mod">
          <ac:chgData name="SERGIO ALEJANDRO D ANTONIO MACEIRAS" userId="37b38641-b999-4aca-8435-552cd1cad571" providerId="ADAL" clId="{4DCD8E5A-A509-5B80-8AF6-837E1C843A7A}" dt="2026-03-11T14:41:52.669" v="2" actId="14100"/>
          <ac:spMkLst>
            <pc:docMk/>
            <pc:sldMk cId="2894511129" sldId="311"/>
            <ac:spMk id="3" creationId="{0694F9B1-7F26-CC90-BAE3-00A27131F476}"/>
          </ac:spMkLst>
        </pc:spChg>
      </pc:sldChg>
      <pc:sldChg chg="del">
        <pc:chgData name="SERGIO ALEJANDRO D ANTONIO MACEIRAS" userId="37b38641-b999-4aca-8435-552cd1cad571" providerId="ADAL" clId="{4DCD8E5A-A509-5B80-8AF6-837E1C843A7A}" dt="2026-03-11T14:46:08.110" v="5" actId="2696"/>
        <pc:sldMkLst>
          <pc:docMk/>
          <pc:sldMk cId="2244739585" sldId="312"/>
        </pc:sldMkLst>
      </pc:sldChg>
      <pc:sldChg chg="del">
        <pc:chgData name="SERGIO ALEJANDRO D ANTONIO MACEIRAS" userId="37b38641-b999-4aca-8435-552cd1cad571" providerId="ADAL" clId="{4DCD8E5A-A509-5B80-8AF6-837E1C843A7A}" dt="2026-03-11T14:46:08.126" v="12" actId="2696"/>
        <pc:sldMkLst>
          <pc:docMk/>
          <pc:sldMk cId="760507695" sldId="313"/>
        </pc:sldMkLst>
      </pc:sldChg>
      <pc:sldChg chg="del">
        <pc:chgData name="SERGIO ALEJANDRO D ANTONIO MACEIRAS" userId="37b38641-b999-4aca-8435-552cd1cad571" providerId="ADAL" clId="{4DCD8E5A-A509-5B80-8AF6-837E1C843A7A}" dt="2026-03-11T14:46:08.114" v="9" actId="2696"/>
        <pc:sldMkLst>
          <pc:docMk/>
          <pc:sldMk cId="912778695" sldId="314"/>
        </pc:sldMkLst>
      </pc:sldChg>
      <pc:sldChg chg="del">
        <pc:chgData name="SERGIO ALEJANDRO D ANTONIO MACEIRAS" userId="37b38641-b999-4aca-8435-552cd1cad571" providerId="ADAL" clId="{4DCD8E5A-A509-5B80-8AF6-837E1C843A7A}" dt="2026-03-11T14:46:08.115" v="10" actId="2696"/>
        <pc:sldMkLst>
          <pc:docMk/>
          <pc:sldMk cId="153867489" sldId="315"/>
        </pc:sldMkLst>
      </pc:sldChg>
      <pc:sldChg chg="del">
        <pc:chgData name="SERGIO ALEJANDRO D ANTONIO MACEIRAS" userId="37b38641-b999-4aca-8435-552cd1cad571" providerId="ADAL" clId="{4DCD8E5A-A509-5B80-8AF6-837E1C843A7A}" dt="2026-03-11T14:46:08.111" v="6" actId="2696"/>
        <pc:sldMkLst>
          <pc:docMk/>
          <pc:sldMk cId="979968322" sldId="316"/>
        </pc:sldMkLst>
      </pc:sldChg>
      <pc:sldChg chg="del">
        <pc:chgData name="SERGIO ALEJANDRO D ANTONIO MACEIRAS" userId="37b38641-b999-4aca-8435-552cd1cad571" providerId="ADAL" clId="{4DCD8E5A-A509-5B80-8AF6-837E1C843A7A}" dt="2026-03-11T14:46:08.109" v="4" actId="2696"/>
        <pc:sldMkLst>
          <pc:docMk/>
          <pc:sldMk cId="409454150" sldId="317"/>
        </pc:sldMkLst>
      </pc:sldChg>
      <pc:sldChg chg="del">
        <pc:chgData name="SERGIO ALEJANDRO D ANTONIO MACEIRAS" userId="37b38641-b999-4aca-8435-552cd1cad571" providerId="ADAL" clId="{4DCD8E5A-A509-5B80-8AF6-837E1C843A7A}" dt="2026-03-11T14:46:08.127" v="13" actId="2696"/>
        <pc:sldMkLst>
          <pc:docMk/>
          <pc:sldMk cId="1368638176" sldId="318"/>
        </pc:sldMkLst>
      </pc:sldChg>
      <pc:sldChg chg="del">
        <pc:chgData name="SERGIO ALEJANDRO D ANTONIO MACEIRAS" userId="37b38641-b999-4aca-8435-552cd1cad571" providerId="ADAL" clId="{4DCD8E5A-A509-5B80-8AF6-837E1C843A7A}" dt="2026-03-11T14:46:08.132" v="14" actId="2696"/>
        <pc:sldMkLst>
          <pc:docMk/>
          <pc:sldMk cId="4181640878" sldId="319"/>
        </pc:sldMkLst>
      </pc:sldChg>
      <pc:sldChg chg="del">
        <pc:chgData name="SERGIO ALEJANDRO D ANTONIO MACEIRAS" userId="37b38641-b999-4aca-8435-552cd1cad571" providerId="ADAL" clId="{4DCD8E5A-A509-5B80-8AF6-837E1C843A7A}" dt="2026-03-11T14:46:08.106" v="3" actId="2696"/>
        <pc:sldMkLst>
          <pc:docMk/>
          <pc:sldMk cId="1319471834" sldId="320"/>
        </pc:sldMkLst>
      </pc:sldChg>
      <pc:sldChg chg="del">
        <pc:chgData name="SERGIO ALEJANDRO D ANTONIO MACEIRAS" userId="37b38641-b999-4aca-8435-552cd1cad571" providerId="ADAL" clId="{4DCD8E5A-A509-5B80-8AF6-837E1C843A7A}" dt="2026-03-11T14:46:08.113" v="8" actId="2696"/>
        <pc:sldMkLst>
          <pc:docMk/>
          <pc:sldMk cId="2370263411" sldId="3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6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C4FF0348-8ED4-F793-8EDE-4246BEC5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6C7EB5D-5605-ACAD-5BDC-D900942D3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>
            <a:extLst>
              <a:ext uri="{FF2B5EF4-FFF2-40B4-BE49-F238E27FC236}">
                <a16:creationId xmlns:a16="http://schemas.microsoft.com/office/drawing/2014/main" id="{598F52E3-C903-736D-48BC-012F2D1A4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663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B94AACCA-1742-4A1D-34FB-06A4404D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c0d2a5a07d_0_0:notes">
            <a:extLst>
              <a:ext uri="{FF2B5EF4-FFF2-40B4-BE49-F238E27FC236}">
                <a16:creationId xmlns:a16="http://schemas.microsoft.com/office/drawing/2014/main" id="{CB1D259A-3755-38F2-4AD1-39946F576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c0d2a5a07d_0_0:notes">
            <a:extLst>
              <a:ext uri="{FF2B5EF4-FFF2-40B4-BE49-F238E27FC236}">
                <a16:creationId xmlns:a16="http://schemas.microsoft.com/office/drawing/2014/main" id="{8B898887-4B1F-1AE6-E66C-00D9D6966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1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12E5CF5E-C549-0442-C138-7119D0FC51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86738" y="69199"/>
            <a:ext cx="1650258" cy="60662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791300" y="1513738"/>
            <a:ext cx="4677000" cy="16767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latin typeface="Montserrat"/>
                <a:ea typeface="Montserrat"/>
                <a:cs typeface="Montserrat"/>
                <a:sym typeface="Montserrat"/>
              </a:rPr>
              <a:t>Ética para la inteligencia artificial</a:t>
            </a: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4150"/>
            <a:ext cx="1478604" cy="6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96EB558-2C22-596B-87F3-25680CC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53" y="480064"/>
            <a:ext cx="3201222" cy="3201222"/>
          </a:xfrm>
          <a:prstGeom prst="rect">
            <a:avLst/>
          </a:prstGeom>
        </p:spPr>
      </p:pic>
      <p:pic>
        <p:nvPicPr>
          <p:cNvPr id="20" name="Imagen 19" descr="Texto&#10;&#10;Descripción generada automáticamente con confianza baja">
            <a:extLst>
              <a:ext uri="{FF2B5EF4-FFF2-40B4-BE49-F238E27FC236}">
                <a16:creationId xmlns:a16="http://schemas.microsoft.com/office/drawing/2014/main" id="{33E645A4-D3CF-8E92-8C71-2BE5710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25" y="4456937"/>
            <a:ext cx="1793681" cy="65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2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Fundamentos</a:t>
            </a:r>
            <a:r>
              <a:rPr lang="en" dirty="0"/>
              <a:t> y </a:t>
            </a:r>
            <a:r>
              <a:rPr lang="en" dirty="0" err="1"/>
              <a:t>principios</a:t>
            </a:r>
            <a:r>
              <a:rPr lang="en" dirty="0"/>
              <a:t> </a:t>
            </a:r>
            <a:r>
              <a:rPr lang="en" dirty="0" err="1"/>
              <a:t>éticos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ÍNDICE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Concepto de ética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Teorías éticas principales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Reglamento de la UE (I)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6C2C323D-3498-EC22-A65E-30F430D6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9F12D867-8423-6FCD-CBDA-BFA9AE31B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523029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ÉTICA SEGÚN LA RAE</a:t>
            </a:r>
            <a:endParaRPr dirty="0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DE65012-1DBD-E7B6-78DF-D8519AFA4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7846092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l" rtl="0"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adj. Perteneciente o relativo a la ética.</a:t>
            </a:r>
          </a:p>
          <a:p>
            <a:pPr marL="533400" lvl="0" indent="-457200" algn="l" rtl="0"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adj. Recto, conforme a la moral.</a:t>
            </a:r>
          </a:p>
          <a:p>
            <a:pPr marL="533400" lvl="0" indent="-457200" algn="l" rtl="0"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m. </a:t>
            </a:r>
            <a:r>
              <a:rPr lang="es-ES" sz="2000" dirty="0" err="1"/>
              <a:t>desus</a:t>
            </a:r>
            <a:r>
              <a:rPr lang="es-ES" sz="2000" dirty="0"/>
              <a:t>. Persona que estudia o enseña moral.</a:t>
            </a:r>
          </a:p>
          <a:p>
            <a:pPr marL="533400" lvl="0" indent="-457200" algn="l" rtl="0"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Conjunto de </a:t>
            </a:r>
            <a:r>
              <a:rPr lang="es-ES" sz="2000" b="1" dirty="0"/>
              <a:t>normas morales </a:t>
            </a:r>
            <a:r>
              <a:rPr lang="es-ES" sz="2000" dirty="0"/>
              <a:t>que rigen la conducta de la persona en cualquier ámbito de la vida. Ética profesional, cívica, deportiva</a:t>
            </a:r>
          </a:p>
          <a:p>
            <a:pPr marL="533400" lvl="0" indent="-457200" algn="l" rtl="0"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Parte de la filosofía que trata del </a:t>
            </a:r>
            <a:r>
              <a:rPr lang="es-ES" sz="2000" b="1" dirty="0"/>
              <a:t>bien</a:t>
            </a:r>
            <a:r>
              <a:rPr lang="es-ES" sz="2000" dirty="0"/>
              <a:t> y del </a:t>
            </a:r>
            <a:r>
              <a:rPr lang="es-ES" sz="2000" b="1" dirty="0"/>
              <a:t>fundamento de sus valores</a:t>
            </a:r>
            <a:r>
              <a:rPr lang="es-ES" sz="2000" dirty="0"/>
              <a:t>.</a:t>
            </a:r>
          </a:p>
        </p:txBody>
      </p:sp>
      <p:sp>
        <p:nvSpPr>
          <p:cNvPr id="113" name="Google Shape;113;p17">
            <a:extLst>
              <a:ext uri="{FF2B5EF4-FFF2-40B4-BE49-F238E27FC236}">
                <a16:creationId xmlns:a16="http://schemas.microsoft.com/office/drawing/2014/main" id="{AACC7219-F57D-D267-65DD-A9EBC91A83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44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0DE3D-6738-13C4-A5BC-DA0BFF40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ÉTICA DE LAS PROFESIONES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FE3DC1-3D46-F3A9-431C-AF0E3474E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4" y="1538075"/>
            <a:ext cx="7697409" cy="3387900"/>
          </a:xfrm>
        </p:spPr>
        <p:txBody>
          <a:bodyPr/>
          <a:lstStyle/>
          <a:p>
            <a:pPr marL="76200" indent="0">
              <a:buNone/>
            </a:pPr>
            <a:r>
              <a:rPr lang="es-ES" dirty="0"/>
              <a:t>Diseñar los valores, principios y procedimientos que, en los diferentes casos, deberán tener en cuenta los profesionales para tomar decisiones morales autónomas y racionales.</a:t>
            </a:r>
          </a:p>
          <a:p>
            <a:pPr marL="76200" indent="0">
              <a:buNone/>
            </a:pPr>
            <a:endParaRPr lang="es-ES" dirty="0"/>
          </a:p>
          <a:p>
            <a:pPr marL="7620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CD5EBA-FD4B-204A-82B1-0D678E60EB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52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A6DF2A10-7562-0725-585A-9F7589BC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>
            <a:extLst>
              <a:ext uri="{FF2B5EF4-FFF2-40B4-BE49-F238E27FC236}">
                <a16:creationId xmlns:a16="http://schemas.microsoft.com/office/drawing/2014/main" id="{347FC386-F1A7-E27E-3085-CA5FB6C719D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Teorías</a:t>
            </a:r>
            <a:r>
              <a:rPr lang="en" dirty="0"/>
              <a:t> </a:t>
            </a:r>
            <a:r>
              <a:rPr lang="en" dirty="0" err="1"/>
              <a:t>éticas</a:t>
            </a:r>
            <a:endParaRPr dirty="0"/>
          </a:p>
        </p:txBody>
      </p:sp>
      <p:sp>
        <p:nvSpPr>
          <p:cNvPr id="406" name="Google Shape;406;p37">
            <a:extLst>
              <a:ext uri="{FF2B5EF4-FFF2-40B4-BE49-F238E27FC236}">
                <a16:creationId xmlns:a16="http://schemas.microsoft.com/office/drawing/2014/main" id="{CC8207AF-177F-A34C-414B-747C4239BE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789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7AD8F-EFEC-D339-F4CA-36A622EA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400" dirty="0" err="1"/>
              <a:t>Teorías</a:t>
            </a:r>
            <a:r>
              <a:rPr lang="en" sz="2400" dirty="0"/>
              <a:t> </a:t>
            </a:r>
            <a:r>
              <a:rPr lang="en" sz="2400" dirty="0" err="1"/>
              <a:t>éticas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BEBFC-4624-CDA1-7FA1-20AA73B04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4" y="1538075"/>
            <a:ext cx="6284921" cy="3387900"/>
          </a:xfrm>
        </p:spPr>
        <p:txBody>
          <a:bodyPr/>
          <a:lstStyle/>
          <a:p>
            <a:r>
              <a:rPr lang="es-ES" dirty="0"/>
              <a:t>Ética del deber racional o deontológica</a:t>
            </a:r>
          </a:p>
          <a:p>
            <a:r>
              <a:rPr lang="es-ES" dirty="0" err="1"/>
              <a:t>Consecuencialista</a:t>
            </a:r>
            <a:r>
              <a:rPr lang="es-ES" dirty="0"/>
              <a:t>/utilitarista</a:t>
            </a:r>
          </a:p>
          <a:p>
            <a:r>
              <a:rPr lang="es-ES" dirty="0"/>
              <a:t>Ética de la justicia</a:t>
            </a:r>
          </a:p>
          <a:p>
            <a:r>
              <a:rPr lang="es-ES" dirty="0"/>
              <a:t>Ética de la virtud</a:t>
            </a:r>
          </a:p>
          <a:p>
            <a:r>
              <a:rPr lang="es-ES" dirty="0"/>
              <a:t>Ética del cuidado 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B48167-C7FA-3F0B-1096-E9C1D58519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7</a:t>
            </a:fld>
            <a:endParaRPr lang="es-ES"/>
          </a:p>
        </p:txBody>
      </p:sp>
      <p:sp>
        <p:nvSpPr>
          <p:cNvPr id="5" name="Google Shape;136;p18">
            <a:extLst>
              <a:ext uri="{FF2B5EF4-FFF2-40B4-BE49-F238E27FC236}">
                <a16:creationId xmlns:a16="http://schemas.microsoft.com/office/drawing/2014/main" id="{7FD12EDD-6065-BEC2-4768-09D8DF251A6B}"/>
              </a:ext>
            </a:extLst>
          </p:cNvPr>
          <p:cNvSpPr/>
          <p:nvPr/>
        </p:nvSpPr>
        <p:spPr>
          <a:xfrm rot="2700000">
            <a:off x="5960306" y="1072527"/>
            <a:ext cx="669489" cy="669489"/>
          </a:xfrm>
          <a:prstGeom prst="teardrop">
            <a:avLst>
              <a:gd name="adj" fmla="val 100000"/>
            </a:avLst>
          </a:prstGeom>
          <a:solidFill>
            <a:srgbClr val="0DB7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43;p18">
            <a:extLst>
              <a:ext uri="{FF2B5EF4-FFF2-40B4-BE49-F238E27FC236}">
                <a16:creationId xmlns:a16="http://schemas.microsoft.com/office/drawing/2014/main" id="{F783FD96-B989-D727-266D-D77CE9F8F068}"/>
              </a:ext>
            </a:extLst>
          </p:cNvPr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7" name="Google Shape;144;p18">
              <a:extLst>
                <a:ext uri="{FF2B5EF4-FFF2-40B4-BE49-F238E27FC236}">
                  <a16:creationId xmlns:a16="http://schemas.microsoft.com/office/drawing/2014/main" id="{CE74E22D-E548-2A53-0CC3-670408585A1F}"/>
                </a:ext>
              </a:extLst>
            </p:cNvPr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5;p18">
              <a:extLst>
                <a:ext uri="{FF2B5EF4-FFF2-40B4-BE49-F238E27FC236}">
                  <a16:creationId xmlns:a16="http://schemas.microsoft.com/office/drawing/2014/main" id="{F8F7FD0C-E017-50AC-36B4-89D2CD628B6A}"/>
                </a:ext>
              </a:extLst>
            </p:cNvPr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6;p18">
              <a:extLst>
                <a:ext uri="{FF2B5EF4-FFF2-40B4-BE49-F238E27FC236}">
                  <a16:creationId xmlns:a16="http://schemas.microsoft.com/office/drawing/2014/main" id="{1162267F-A930-5683-F46E-24A52C2FBE23}"/>
                </a:ext>
              </a:extLst>
            </p:cNvPr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7;p18">
              <a:extLst>
                <a:ext uri="{FF2B5EF4-FFF2-40B4-BE49-F238E27FC236}">
                  <a16:creationId xmlns:a16="http://schemas.microsoft.com/office/drawing/2014/main" id="{3FE612F2-18FB-1323-DCCF-E085BB04D29E}"/>
                </a:ext>
              </a:extLst>
            </p:cNvPr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137;p18">
            <a:extLst>
              <a:ext uri="{FF2B5EF4-FFF2-40B4-BE49-F238E27FC236}">
                <a16:creationId xmlns:a16="http://schemas.microsoft.com/office/drawing/2014/main" id="{FA0C04BF-FB71-9743-9DB0-B13AF5E4FF14}"/>
              </a:ext>
            </a:extLst>
          </p:cNvPr>
          <p:cNvSpPr/>
          <p:nvPr/>
        </p:nvSpPr>
        <p:spPr>
          <a:xfrm rot="-2700000" flipH="1">
            <a:off x="7667081" y="3007202"/>
            <a:ext cx="669489" cy="669489"/>
          </a:xfrm>
          <a:prstGeom prst="teardrop">
            <a:avLst>
              <a:gd name="adj" fmla="val 100000"/>
            </a:avLst>
          </a:prstGeom>
          <a:solidFill>
            <a:srgbClr val="F247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38;p18">
            <a:extLst>
              <a:ext uri="{FF2B5EF4-FFF2-40B4-BE49-F238E27FC236}">
                <a16:creationId xmlns:a16="http://schemas.microsoft.com/office/drawing/2014/main" id="{225FC78B-B99D-7FFB-7075-205CA67DA8B0}"/>
              </a:ext>
            </a:extLst>
          </p:cNvPr>
          <p:cNvGrpSpPr/>
          <p:nvPr/>
        </p:nvGrpSpPr>
        <p:grpSpPr>
          <a:xfrm>
            <a:off x="7841620" y="3181753"/>
            <a:ext cx="320399" cy="320378"/>
            <a:chOff x="1951075" y="2333250"/>
            <a:chExt cx="381200" cy="381175"/>
          </a:xfrm>
        </p:grpSpPr>
        <p:sp>
          <p:nvSpPr>
            <p:cNvPr id="13" name="Google Shape;139;p18">
              <a:extLst>
                <a:ext uri="{FF2B5EF4-FFF2-40B4-BE49-F238E27FC236}">
                  <a16:creationId xmlns:a16="http://schemas.microsoft.com/office/drawing/2014/main" id="{240BED7B-4CDB-5D77-CB7B-81CD6DBF59F1}"/>
                </a:ext>
              </a:extLst>
            </p:cNvPr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l" t="t" r="r" b="b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" name="Google Shape;140;p18">
              <a:extLst>
                <a:ext uri="{FF2B5EF4-FFF2-40B4-BE49-F238E27FC236}">
                  <a16:creationId xmlns:a16="http://schemas.microsoft.com/office/drawing/2014/main" id="{52A1D338-CA20-45E8-3672-6632AB10F18A}"/>
                </a:ext>
              </a:extLst>
            </p:cNvPr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" name="Google Shape;141;p18">
              <a:extLst>
                <a:ext uri="{FF2B5EF4-FFF2-40B4-BE49-F238E27FC236}">
                  <a16:creationId xmlns:a16="http://schemas.microsoft.com/office/drawing/2014/main" id="{A181004D-699C-2FDB-E645-4B191C25A5D5}"/>
                </a:ext>
              </a:extLst>
            </p:cNvPr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" name="Google Shape;142;p18">
              <a:extLst>
                <a:ext uri="{FF2B5EF4-FFF2-40B4-BE49-F238E27FC236}">
                  <a16:creationId xmlns:a16="http://schemas.microsoft.com/office/drawing/2014/main" id="{F5600BBC-4A04-C8FF-2A3C-B7C724BA6279}"/>
                </a:ext>
              </a:extLst>
            </p:cNvPr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l" t="t" r="r" b="b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779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0C32F-F4E4-CAA5-B0F5-0A02D7CD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Consecuencialista</a:t>
            </a:r>
            <a:r>
              <a:rPr lang="es-ES" dirty="0"/>
              <a:t>/utilitarista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257C2A-C86C-4075-0614-E36EF31D5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5315370" cy="3387900"/>
          </a:xfrm>
        </p:spPr>
        <p:txBody>
          <a:bodyPr/>
          <a:lstStyle/>
          <a:p>
            <a:pPr marL="76200" indent="0">
              <a:buNone/>
            </a:pPr>
            <a:r>
              <a:rPr lang="es-ES" dirty="0"/>
              <a:t>Mill, Bentham</a:t>
            </a:r>
          </a:p>
          <a:p>
            <a:r>
              <a:rPr lang="es-ES" dirty="0"/>
              <a:t>Es el enfoque más utilizado en el mundo empresarial. </a:t>
            </a:r>
          </a:p>
          <a:p>
            <a:r>
              <a:rPr lang="es-ES" dirty="0"/>
              <a:t>Su objetivo es encontrar la solución que produzca un mayor beneficio para mayor número de afectados 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51911D-46C5-87E5-27AC-90191AF4A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497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07CA5-F3FC-C7E2-3D8B-01572BF9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5" y="5598"/>
            <a:ext cx="5169000" cy="1140000"/>
          </a:xfrm>
        </p:spPr>
        <p:txBody>
          <a:bodyPr/>
          <a:lstStyle/>
          <a:p>
            <a:r>
              <a:rPr lang="es-ES" dirty="0"/>
              <a:t>Ética del deber racional o deontológica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D231E2-25A7-92F0-4CD4-3F131C029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7661622" cy="3387900"/>
          </a:xfrm>
        </p:spPr>
        <p:txBody>
          <a:bodyPr/>
          <a:lstStyle/>
          <a:p>
            <a:pPr marL="76200" indent="0">
              <a:buNone/>
            </a:pPr>
            <a:r>
              <a:rPr lang="es-ES" dirty="0"/>
              <a:t>Kant</a:t>
            </a:r>
          </a:p>
          <a:p>
            <a:r>
              <a:rPr lang="es-ES" sz="1600" dirty="0"/>
              <a:t>La corrección de una acción se basa en que se ajuste a unos principios y normas universales.  </a:t>
            </a:r>
          </a:p>
          <a:p>
            <a:r>
              <a:rPr lang="es-ES" sz="1600" dirty="0"/>
              <a:t>Pone el foco no en las consecuencias, sino en ciertos principios y normas a los que se llega a través del uso de la razón. Este enfoque parte de que la razón que compartimos nos hace personas, con dignidad propia. Debemos hacernos tres preguntas:</a:t>
            </a:r>
          </a:p>
          <a:p>
            <a:endParaRPr lang="es-ES" sz="1600" dirty="0"/>
          </a:p>
          <a:p>
            <a:pPr lvl="1"/>
            <a:r>
              <a:rPr lang="es-ES" sz="1600" dirty="0"/>
              <a:t>es nuestra acción universalizable</a:t>
            </a:r>
          </a:p>
          <a:p>
            <a:pPr lvl="1"/>
            <a:r>
              <a:rPr lang="es-ES" sz="1600" dirty="0"/>
              <a:t>nos sentiríamos cómodos haciendo pública nuestra decisión-acción </a:t>
            </a:r>
          </a:p>
          <a:p>
            <a:pPr lvl="1"/>
            <a:r>
              <a:rPr lang="es-ES" sz="1600" dirty="0"/>
              <a:t>estamos tratando a los demás como fines en sí mismos, y no sólo como medios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9FD086-4C04-65B0-8506-6FBE9959FB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363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BDAD-7271-6EC0-1BE3-DE8266E6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Ética de la justicia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FBCA6C-9FD6-C9A7-6F77-8469FB56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s-ES" sz="2000" dirty="0"/>
              <a:t>Rawls</a:t>
            </a:r>
          </a:p>
          <a:p>
            <a:r>
              <a:rPr lang="es-ES" sz="2000" dirty="0"/>
              <a:t>Para superar las posibles limitaciones del utilitarismo</a:t>
            </a:r>
          </a:p>
          <a:p>
            <a:r>
              <a:rPr lang="es-ES" sz="2000" dirty="0"/>
              <a:t>Contrato social mediante el que las personas deben establecer las condiciones en que están dispuestos a vivir en sociedad. 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AB9813-648E-C3CD-67D1-68E3783479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916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EA7A6-5173-73A2-152A-DEA3BFC9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Ética de la virtud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EA0915-A253-2E3D-BB67-B8555C664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s-ES" sz="2000" dirty="0"/>
              <a:t>Aristóteles</a:t>
            </a:r>
          </a:p>
          <a:p>
            <a:pPr marL="76200" indent="0">
              <a:buNone/>
            </a:pPr>
            <a:endParaRPr lang="es-ES" sz="2000" dirty="0"/>
          </a:p>
          <a:p>
            <a:r>
              <a:rPr lang="es-ES" sz="2000" dirty="0"/>
              <a:t>Praxis </a:t>
            </a:r>
            <a:r>
              <a:rPr lang="es-ES" sz="2000" dirty="0">
                <a:sym typeface="Wingdings" pitchFamily="2" charset="2"/>
              </a:rPr>
              <a:t> hábitos (mores) honorables  mejores decisiones</a:t>
            </a:r>
          </a:p>
          <a:p>
            <a:r>
              <a:rPr lang="es-ES" sz="2000" dirty="0"/>
              <a:t>También, en muchas ocasiones, en función de lo que “se espera”, de ese agente en la sociedad que realiza la acción.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306CCA-00EA-EAE3-DA41-358E546ED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464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5E3F9-7CF3-C7BF-8144-E47D522E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Ética del cuidado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316417-17C6-523A-004C-49134488F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7838658" cy="3387900"/>
          </a:xfrm>
        </p:spPr>
        <p:txBody>
          <a:bodyPr/>
          <a:lstStyle/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2895BA-9E1C-9AA7-53D4-2654F34172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12</a:t>
            </a:fld>
            <a:endParaRPr lang="es-ES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1A7A31D2-B009-3892-CB2D-40D0A5D86573}"/>
              </a:ext>
            </a:extLst>
          </p:cNvPr>
          <p:cNvSpPr txBox="1">
            <a:spLocks/>
          </p:cNvSpPr>
          <p:nvPr/>
        </p:nvSpPr>
        <p:spPr>
          <a:xfrm>
            <a:off x="844425" y="1538075"/>
            <a:ext cx="5889528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▹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⬞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76200" indent="0">
              <a:buFont typeface="Source Sans Pro"/>
              <a:buNone/>
            </a:pPr>
            <a:r>
              <a:rPr lang="es-ES" sz="2000" dirty="0" err="1"/>
              <a:t>Guilligan</a:t>
            </a:r>
            <a:r>
              <a:rPr lang="es-ES" sz="2000" dirty="0"/>
              <a:t>, 1982</a:t>
            </a:r>
          </a:p>
          <a:p>
            <a:pPr marL="76200" indent="0">
              <a:buFont typeface="Source Sans Pro"/>
              <a:buNone/>
            </a:pPr>
            <a:endParaRPr lang="es-ES" sz="2000" dirty="0"/>
          </a:p>
          <a:p>
            <a:r>
              <a:rPr lang="es-ES" sz="2000" b="1" dirty="0"/>
              <a:t>Ampliar</a:t>
            </a:r>
            <a:r>
              <a:rPr lang="es-ES" sz="2000" dirty="0"/>
              <a:t> las teorías anteriores incorporando la noción de “cuidados”, “daño” y “vulnerabilidad”.</a:t>
            </a:r>
          </a:p>
          <a:p>
            <a:r>
              <a:rPr lang="es-ES" sz="2000" dirty="0"/>
              <a:t>Mostrar que la noción de razón, derechos y deberes es </a:t>
            </a:r>
            <a:r>
              <a:rPr lang="es-ES" sz="2000" b="1" dirty="0"/>
              <a:t>limitada</a:t>
            </a:r>
            <a:endParaRPr lang="es-ES" sz="2000" dirty="0"/>
          </a:p>
          <a:p>
            <a:r>
              <a:rPr lang="es-ES" sz="2000" dirty="0"/>
              <a:t>Teoría feminista </a:t>
            </a:r>
            <a:r>
              <a:rPr lang="es-ES" sz="2000" dirty="0">
                <a:sym typeface="Wingdings" pitchFamily="2" charset="2"/>
              </a:rPr>
              <a:t> responsabilidad y cuidados</a:t>
            </a: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2642454"/>
      </p:ext>
    </p:extLst>
  </p:cSld>
  <p:clrMapOvr>
    <a:masterClrMapping/>
  </p:clrMapOvr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411</Words>
  <Application>Microsoft Macintosh PowerPoint</Application>
  <PresentationFormat>Presentación en pantalla (16:9)</PresentationFormat>
  <Paragraphs>59</Paragraphs>
  <Slides>12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Montserrat</vt:lpstr>
      <vt:lpstr>Arial</vt:lpstr>
      <vt:lpstr>Source Sans Pro</vt:lpstr>
      <vt:lpstr>Wingdings</vt:lpstr>
      <vt:lpstr>Dosis</vt:lpstr>
      <vt:lpstr>Cerimon template</vt:lpstr>
      <vt:lpstr>Ética para la inteligencia artificial</vt:lpstr>
      <vt:lpstr>Tema 2</vt:lpstr>
      <vt:lpstr>ÍNDICE</vt:lpstr>
      <vt:lpstr>ÉTICA SEGÚN LA RAE</vt:lpstr>
      <vt:lpstr>ÉTICA DE LAS PROFESIONES</vt:lpstr>
      <vt:lpstr>Teorías éticas</vt:lpstr>
      <vt:lpstr>Teorías éticas</vt:lpstr>
      <vt:lpstr>Consecuencialista/utilitarista</vt:lpstr>
      <vt:lpstr>Ética del deber racional o deontológica</vt:lpstr>
      <vt:lpstr>Ética de la justicia</vt:lpstr>
      <vt:lpstr>Ética de la virtud</vt:lpstr>
      <vt:lpstr>Ética del cuidado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actors profiling and detection in Online Social Networks through Artificial Intelligence</dc:title>
  <cp:lastModifiedBy>SERGIO ALEJANDRO D ANTONIO MACEIRAS</cp:lastModifiedBy>
  <cp:revision>12</cp:revision>
  <dcterms:modified xsi:type="dcterms:W3CDTF">2026-03-11T14:46:16Z</dcterms:modified>
</cp:coreProperties>
</file>