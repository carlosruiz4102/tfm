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20"/>
  </p:notesMasterIdLst>
  <p:sldIdLst>
    <p:sldId id="297" r:id="rId2"/>
    <p:sldId id="259" r:id="rId3"/>
    <p:sldId id="298" r:id="rId4"/>
    <p:sldId id="299" r:id="rId5"/>
    <p:sldId id="300" r:id="rId6"/>
    <p:sldId id="337" r:id="rId7"/>
    <p:sldId id="301" r:id="rId8"/>
    <p:sldId id="302" r:id="rId9"/>
    <p:sldId id="335" r:id="rId10"/>
    <p:sldId id="328" r:id="rId11"/>
    <p:sldId id="329" r:id="rId12"/>
    <p:sldId id="330" r:id="rId13"/>
    <p:sldId id="331" r:id="rId14"/>
    <p:sldId id="336" r:id="rId15"/>
    <p:sldId id="304" r:id="rId16"/>
    <p:sldId id="338" r:id="rId17"/>
    <p:sldId id="339" r:id="rId18"/>
    <p:sldId id="303" r:id="rId19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21"/>
      <p:bold r:id="rId22"/>
      <p:italic r:id="rId23"/>
      <p:boldItalic r:id="rId24"/>
    </p:embeddedFont>
    <p:embeddedFont>
      <p:font typeface="Dosis" pitchFamily="2" charset="77"/>
      <p:regular r:id="rId25"/>
      <p:bold r:id="rId26"/>
    </p:embeddedFont>
    <p:embeddedFont>
      <p:font typeface="Montserrat" pitchFamily="2" charset="77"/>
      <p:regular r:id="rId27"/>
      <p:bold r:id="rId28"/>
      <p:italic r:id="rId29"/>
      <p:boldItalic r:id="rId30"/>
    </p:embeddedFont>
    <p:embeddedFont>
      <p:font typeface="Source Sans Pro" panose="020B0503030403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12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5AA68A-AA1E-F948-9B03-33039C56C794}" v="30" dt="2025-03-27T16:29:40.500"/>
  </p1510:revLst>
</p1510:revInfo>
</file>

<file path=ppt/tableStyles.xml><?xml version="1.0" encoding="utf-8"?>
<a:tblStyleLst xmlns:a="http://schemas.openxmlformats.org/drawingml/2006/main" def="{B3896514-1AA1-4EE5-A447-7E556EC08B63}">
  <a:tblStyle styleId="{B3896514-1AA1-4EE5-A447-7E556EC08B6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EE65728-0D21-4A9D-A831-D487195EC545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44"/>
    <p:restoredTop sz="94691"/>
  </p:normalViewPr>
  <p:slideViewPr>
    <p:cSldViewPr snapToGrid="0">
      <p:cViewPr varScale="1">
        <p:scale>
          <a:sx n="190" d="100"/>
          <a:sy n="190" d="100"/>
        </p:scale>
        <p:origin x="192" y="1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microsoft.com/office/2015/10/relationships/revisionInfo" Target="revisionInfo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16241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>
          <a:extLst>
            <a:ext uri="{FF2B5EF4-FFF2-40B4-BE49-F238E27FC236}">
              <a16:creationId xmlns:a16="http://schemas.microsoft.com/office/drawing/2014/main" id="{C4FF0348-8ED4-F793-8EDE-4246BEC5DF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6C7EB5D-5605-ACAD-5BDC-D900942D34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p:notes">
            <a:extLst>
              <a:ext uri="{FF2B5EF4-FFF2-40B4-BE49-F238E27FC236}">
                <a16:creationId xmlns:a16="http://schemas.microsoft.com/office/drawing/2014/main" id="{598F52E3-C903-736D-48BC-012F2D1A413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46636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4A48FB12-DA0F-1BF9-2ECB-23B9F4012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>
            <a:extLst>
              <a:ext uri="{FF2B5EF4-FFF2-40B4-BE49-F238E27FC236}">
                <a16:creationId xmlns:a16="http://schemas.microsoft.com/office/drawing/2014/main" id="{419569A4-48F9-1BF7-34DA-E35F9D1608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>
            <a:extLst>
              <a:ext uri="{FF2B5EF4-FFF2-40B4-BE49-F238E27FC236}">
                <a16:creationId xmlns:a16="http://schemas.microsoft.com/office/drawing/2014/main" id="{201F169A-D3B6-4E15-0EFA-145A9670F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7693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344B7A62-E474-AA81-99D5-FE604115CE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>
            <a:extLst>
              <a:ext uri="{FF2B5EF4-FFF2-40B4-BE49-F238E27FC236}">
                <a16:creationId xmlns:a16="http://schemas.microsoft.com/office/drawing/2014/main" id="{88F87258-5F8F-3E89-522B-C2C1BBB0C7C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>
            <a:extLst>
              <a:ext uri="{FF2B5EF4-FFF2-40B4-BE49-F238E27FC236}">
                <a16:creationId xmlns:a16="http://schemas.microsoft.com/office/drawing/2014/main" id="{9BB69FF4-EC8A-D8F4-008C-56447B69A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852113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>
          <a:extLst>
            <a:ext uri="{FF2B5EF4-FFF2-40B4-BE49-F238E27FC236}">
              <a16:creationId xmlns:a16="http://schemas.microsoft.com/office/drawing/2014/main" id="{5D1D1ACA-E4D2-74F0-C435-AA70AE13A2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5f391192_029:notes">
            <a:extLst>
              <a:ext uri="{FF2B5EF4-FFF2-40B4-BE49-F238E27FC236}">
                <a16:creationId xmlns:a16="http://schemas.microsoft.com/office/drawing/2014/main" id="{09433901-5462-274B-6B19-74AFA9661F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5f391192_029:notes">
            <a:extLst>
              <a:ext uri="{FF2B5EF4-FFF2-40B4-BE49-F238E27FC236}">
                <a16:creationId xmlns:a16="http://schemas.microsoft.com/office/drawing/2014/main" id="{A648FF15-BA2C-2B1B-FB4D-B4BA6FD558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558723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marR="0" lvl="0" indent="-3175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tabLst/>
              <a:defRPr/>
            </a:pPr>
            <a:r>
              <a:rPr lang="es-ES" altLang="es-ES" sz="1100"/>
              <a:t>Carl Mitcham</a:t>
            </a:r>
            <a:r>
              <a:rPr lang="es-ES" altLang="es-ES" sz="1100" dirty="0"/>
              <a:t>, </a:t>
            </a:r>
            <a:r>
              <a:rPr lang="es-ES" altLang="es-ES" sz="1100" i="1" dirty="0" err="1"/>
              <a:t>Etica</a:t>
            </a:r>
            <a:r>
              <a:rPr lang="es-ES" altLang="es-ES" sz="1100" i="1" dirty="0"/>
              <a:t> y Valores</a:t>
            </a:r>
            <a:r>
              <a:rPr lang="es-ES" altLang="es-ES" sz="1100" dirty="0"/>
              <a:t>, BBVA. https://</a:t>
            </a:r>
            <a:r>
              <a:rPr lang="es-ES" altLang="es-ES" sz="1100" dirty="0" err="1"/>
              <a:t>www.bbvaopenmind.com</a:t>
            </a:r>
            <a:r>
              <a:rPr lang="es-ES" altLang="es-ES" sz="1100" dirty="0"/>
              <a:t>/</a:t>
            </a:r>
            <a:r>
              <a:rPr lang="es-ES" altLang="es-ES" sz="1100" dirty="0" err="1"/>
              <a:t>wp-content</a:t>
            </a:r>
            <a:r>
              <a:rPr lang="es-ES" altLang="es-ES" sz="1100" dirty="0"/>
              <a:t>/</a:t>
            </a:r>
            <a:r>
              <a:rPr lang="es-ES" altLang="es-ES" sz="1100" dirty="0" err="1"/>
              <a:t>uploads</a:t>
            </a:r>
            <a:r>
              <a:rPr lang="es-ES" altLang="es-ES" sz="1100" dirty="0"/>
              <a:t>/2013/02/BBVA-OpenMind-La-tecnolog%C3%ADa-y-el-peso-de-la-responsabilidad-Carl-Mitcham.pdf.pdf</a:t>
            </a:r>
            <a:endParaRPr lang="es-ES" altLang="es-ES" sz="1100" b="1" dirty="0">
              <a:solidFill>
                <a:schemeClr val="tx2"/>
              </a:solidFill>
              <a:latin typeface="Corbel" panose="020B0503020204020204" pitchFamily="34" charset="0"/>
              <a:cs typeface="Arial" pitchFamily="34" charset="0"/>
            </a:endParaRPr>
          </a:p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7621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-150" y="4156675"/>
            <a:ext cx="9144000" cy="276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-150" y="0"/>
            <a:ext cx="9144000" cy="41568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685800" y="2525225"/>
            <a:ext cx="5309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 rot="10800000">
            <a:off x="-150" y="3082200"/>
            <a:ext cx="9144000" cy="687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/>
          <p:nvPr/>
        </p:nvSpPr>
        <p:spPr>
          <a:xfrm flipH="1">
            <a:off x="-150" y="0"/>
            <a:ext cx="9144000" cy="30822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buNone/>
              <a:defRPr>
                <a:solidFill>
                  <a:schemeClr val="dk2"/>
                </a:solidFill>
              </a:defRPr>
            </a:lvl1pPr>
            <a:lvl2pPr lvl="1" rtl="0">
              <a:buNone/>
              <a:defRPr>
                <a:solidFill>
                  <a:schemeClr val="dk2"/>
                </a:solidFill>
              </a:defRPr>
            </a:lvl2pPr>
            <a:lvl3pPr lvl="2" rtl="0">
              <a:buNone/>
              <a:defRPr>
                <a:solidFill>
                  <a:schemeClr val="dk2"/>
                </a:solidFill>
              </a:defRPr>
            </a:lvl3pPr>
            <a:lvl4pPr lvl="3" rtl="0">
              <a:buNone/>
              <a:defRPr>
                <a:solidFill>
                  <a:schemeClr val="dk2"/>
                </a:solidFill>
              </a:defRPr>
            </a:lvl4pPr>
            <a:lvl5pPr lvl="4" rtl="0">
              <a:buNone/>
              <a:defRPr>
                <a:solidFill>
                  <a:schemeClr val="dk2"/>
                </a:solidFill>
              </a:defRPr>
            </a:lvl5pPr>
            <a:lvl6pPr lvl="5" rtl="0">
              <a:buNone/>
              <a:defRPr>
                <a:solidFill>
                  <a:schemeClr val="dk2"/>
                </a:solidFill>
              </a:defRPr>
            </a:lvl6pPr>
            <a:lvl7pPr lvl="6" rtl="0">
              <a:buNone/>
              <a:defRPr>
                <a:solidFill>
                  <a:schemeClr val="dk2"/>
                </a:solidFill>
              </a:defRPr>
            </a:lvl7pPr>
            <a:lvl8pPr lvl="7" rtl="0">
              <a:buNone/>
              <a:defRPr>
                <a:solidFill>
                  <a:schemeClr val="dk2"/>
                </a:solidFill>
              </a:defRPr>
            </a:lvl8pPr>
            <a:lvl9pPr lvl="8" rtl="0">
              <a:buNone/>
              <a:defRPr>
                <a:solidFill>
                  <a:schemeClr val="dk2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-75" y="0"/>
            <a:ext cx="6696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/>
          <p:nvPr/>
        </p:nvSpPr>
        <p:spPr>
          <a:xfrm flipH="1">
            <a:off x="-75" y="0"/>
            <a:ext cx="669600" cy="1140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▹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⬩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⬞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Dosis"/>
              <a:buNone/>
              <a:defRPr sz="2400">
                <a:solidFill>
                  <a:schemeClr val="dk2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44425" y="1538075"/>
            <a:ext cx="5169000" cy="338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Source Sans Pro"/>
              <a:buChar char="▹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▸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Source Sans Pro"/>
              <a:buChar char="⬩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⬞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2pPr>
            <a:lvl3pPr lvl="2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3pPr>
            <a:lvl4pPr lvl="3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4pPr>
            <a:lvl5pPr lvl="4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5pPr>
            <a:lvl6pPr lvl="5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6pPr>
            <a:lvl7pPr lvl="6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7pPr>
            <a:lvl8pPr lvl="7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8pPr>
            <a:lvl9pPr lvl="8" algn="ctr" rtl="0">
              <a:buNone/>
              <a:defRPr sz="24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  <p:pic>
        <p:nvPicPr>
          <p:cNvPr id="13" name="Imagen 12" descr="Texto&#10;&#10;Descripción generada automáticamente con confianza baja">
            <a:extLst>
              <a:ext uri="{FF2B5EF4-FFF2-40B4-BE49-F238E27FC236}">
                <a16:creationId xmlns:a16="http://schemas.microsoft.com/office/drawing/2014/main" id="{12E5CF5E-C549-0442-C138-7119D0FC5198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386738" y="69199"/>
            <a:ext cx="1650258" cy="606628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ctrTitle"/>
          </p:nvPr>
        </p:nvSpPr>
        <p:spPr>
          <a:xfrm>
            <a:off x="791300" y="1513738"/>
            <a:ext cx="4677000" cy="167672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 b="1" dirty="0">
                <a:latin typeface="Montserrat"/>
                <a:ea typeface="Montserrat"/>
                <a:cs typeface="Montserrat"/>
                <a:sym typeface="Montserrat"/>
              </a:rPr>
              <a:t>Ética para la inteligencia artificial</a:t>
            </a:r>
          </a:p>
        </p:txBody>
      </p:sp>
      <p:pic>
        <p:nvPicPr>
          <p:cNvPr id="78" name="Google Shape;7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484150"/>
            <a:ext cx="1478604" cy="6865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n 17" descr="Imagen que contiene Diagrama&#10;&#10;Descripción generada automáticamente">
            <a:extLst>
              <a:ext uri="{FF2B5EF4-FFF2-40B4-BE49-F238E27FC236}">
                <a16:creationId xmlns:a16="http://schemas.microsoft.com/office/drawing/2014/main" id="{796EB558-2C22-596B-87F3-25680CCB59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853" y="480064"/>
            <a:ext cx="3201222" cy="3201222"/>
          </a:xfrm>
          <a:prstGeom prst="rect">
            <a:avLst/>
          </a:prstGeom>
        </p:spPr>
      </p:pic>
      <p:pic>
        <p:nvPicPr>
          <p:cNvPr id="20" name="Imagen 19" descr="Texto&#10;&#10;Descripción generada automáticamente con confianza baja">
            <a:extLst>
              <a:ext uri="{FF2B5EF4-FFF2-40B4-BE49-F238E27FC236}">
                <a16:creationId xmlns:a16="http://schemas.microsoft.com/office/drawing/2014/main" id="{33E645A4-D3CF-8E92-8C71-2BE57102AE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525" y="4456937"/>
            <a:ext cx="1793681" cy="659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1</a:t>
            </a:r>
            <a:endParaRPr dirty="0"/>
          </a:p>
        </p:txBody>
      </p:sp>
      <p:sp>
        <p:nvSpPr>
          <p:cNvPr id="99" name="Google Shape;99;p15"/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5008200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(No) </a:t>
            </a:r>
            <a:r>
              <a:rPr lang="en" dirty="0" err="1"/>
              <a:t>Neutralidad</a:t>
            </a:r>
            <a:r>
              <a:rPr lang="en" dirty="0"/>
              <a:t> </a:t>
            </a:r>
            <a:r>
              <a:rPr lang="en" dirty="0" err="1"/>
              <a:t>tecnológica</a:t>
            </a:r>
            <a:endParaRPr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/>
          <p:cNvSpPr txBox="1">
            <a:spLocks noGrp="1"/>
          </p:cNvSpPr>
          <p:nvPr>
            <p:ph type="title"/>
          </p:nvPr>
        </p:nvSpPr>
        <p:spPr>
          <a:xfrm>
            <a:off x="844425" y="5598"/>
            <a:ext cx="3552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ÍNDICE</a:t>
            </a:r>
            <a:endParaRPr dirty="0"/>
          </a:p>
        </p:txBody>
      </p:sp>
      <p:sp>
        <p:nvSpPr>
          <p:cNvPr id="112" name="Google Shape;112;p17"/>
          <p:cNvSpPr txBox="1">
            <a:spLocks noGrp="1"/>
          </p:cNvSpPr>
          <p:nvPr>
            <p:ph type="body" idx="1"/>
          </p:nvPr>
        </p:nvSpPr>
        <p:spPr>
          <a:xfrm>
            <a:off x="844424" y="1538075"/>
            <a:ext cx="8037358" cy="338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▹"/>
            </a:pPr>
            <a:r>
              <a:rPr lang="es-ES" dirty="0"/>
              <a:t>1.1 - Historia de la (no)neutralidad tecnológica</a:t>
            </a:r>
          </a:p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SzPts val="2400"/>
              <a:buChar char="▹"/>
            </a:pPr>
            <a:r>
              <a:rPr lang="es-ES" dirty="0"/>
              <a:t>1.2 - Revisión del artículo de L. </a:t>
            </a:r>
            <a:r>
              <a:rPr lang="es-ES" dirty="0" err="1"/>
              <a:t>Winner</a:t>
            </a:r>
            <a:r>
              <a:rPr lang="es-ES" dirty="0"/>
              <a:t> (Política de los artefactos</a:t>
            </a:r>
            <a:endParaRPr dirty="0"/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▹"/>
            </a:pPr>
            <a:r>
              <a:rPr lang="es-ES" dirty="0"/>
              <a:t>1.3 - Revisión del artículo de L. </a:t>
            </a:r>
            <a:r>
              <a:rPr lang="es-ES" dirty="0" err="1"/>
              <a:t>Floridi</a:t>
            </a:r>
            <a:r>
              <a:rPr lang="es-ES" dirty="0"/>
              <a:t> (No neutralidad tecnológica)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▹"/>
            </a:pPr>
            <a:r>
              <a:rPr lang="es-ES" dirty="0"/>
              <a:t>1.4 – Revisión del artículo de </a:t>
            </a:r>
            <a:r>
              <a:rPr lang="es-ES" dirty="0" err="1"/>
              <a:t>Koplin</a:t>
            </a:r>
            <a:r>
              <a:rPr lang="es-ES" dirty="0"/>
              <a:t> (Usos duales)</a:t>
            </a:r>
            <a:endParaRPr dirty="0"/>
          </a:p>
        </p:txBody>
      </p:sp>
      <p:sp>
        <p:nvSpPr>
          <p:cNvPr id="113" name="Google Shape;113;p17"/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9382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>
          <a:extLst>
            <a:ext uri="{FF2B5EF4-FFF2-40B4-BE49-F238E27FC236}">
              <a16:creationId xmlns:a16="http://schemas.microsoft.com/office/drawing/2014/main" id="{6C2C323D-3498-EC22-A65E-30F430D6B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9F12D867-8423-6FCD-CBDA-BFA9AE31B4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4424" y="5598"/>
            <a:ext cx="4523029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altLang="es-ES" sz="2400" b="1" dirty="0"/>
              <a:t>Tecno-optimismo</a:t>
            </a:r>
            <a:r>
              <a:rPr lang="es-ES" altLang="es-ES" sz="2400" dirty="0"/>
              <a:t> (1945-1955)</a:t>
            </a:r>
            <a:endParaRPr dirty="0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BDE65012-1DBD-E7B6-78DF-D8519AFA46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44424" y="1140000"/>
            <a:ext cx="4339759" cy="28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27075"/>
            <a:r>
              <a:rPr lang="es-ES" altLang="es-ES" sz="1600" dirty="0"/>
              <a:t>Energía nuclear, transistores , cibernética.</a:t>
            </a:r>
          </a:p>
          <a:p>
            <a:pPr marL="727075"/>
            <a:r>
              <a:rPr lang="es-ES" altLang="es-ES" sz="1600" dirty="0"/>
              <a:t>Grandes inversiones en Ciencia</a:t>
            </a:r>
          </a:p>
          <a:p>
            <a:pPr marL="727075"/>
            <a:r>
              <a:rPr lang="es-ES" altLang="es-ES" sz="1600" dirty="0"/>
              <a:t>Ciencia, la gran frontera (Vannevar Bush) </a:t>
            </a:r>
          </a:p>
          <a:p>
            <a:pPr marL="1179513" lvl="2"/>
            <a:r>
              <a:rPr lang="es-ES" altLang="es-ES" sz="1600" dirty="0"/>
              <a:t>Fundamental para  ganar la Guerra pero necesario control social</a:t>
            </a:r>
          </a:p>
          <a:p>
            <a:pPr marL="1179513" lvl="2"/>
            <a:r>
              <a:rPr lang="es-ES" altLang="es-ES" sz="1600" dirty="0"/>
              <a:t>Relación de Ciencia Básica , Ciencia Aplicada, el Completo Militar y el Mercado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lang="es-ES" sz="2000" dirty="0"/>
          </a:p>
        </p:txBody>
      </p:sp>
      <p:sp>
        <p:nvSpPr>
          <p:cNvPr id="113" name="Google Shape;113;p17">
            <a:extLst>
              <a:ext uri="{FF2B5EF4-FFF2-40B4-BE49-F238E27FC236}">
                <a16:creationId xmlns:a16="http://schemas.microsoft.com/office/drawing/2014/main" id="{AACC7219-F57D-D267-65DD-A9EBC91A838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0"/>
            <a:ext cx="669600" cy="114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pic>
        <p:nvPicPr>
          <p:cNvPr id="1028" name="Picture 4" descr="Oppenheimer (TV Mini Series 1980) - IMDb">
            <a:extLst>
              <a:ext uri="{FF2B5EF4-FFF2-40B4-BE49-F238E27FC236}">
                <a16:creationId xmlns:a16="http://schemas.microsoft.com/office/drawing/2014/main" id="{04CB77B5-D052-577F-6B7F-2FAA6D657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489" y="1223127"/>
            <a:ext cx="2083315" cy="3130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14459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340DE3D-6738-13C4-A5BC-DA0BFF40A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24" y="5598"/>
            <a:ext cx="4359675" cy="1140000"/>
          </a:xfrm>
        </p:spPr>
        <p:txBody>
          <a:bodyPr/>
          <a:lstStyle/>
          <a:p>
            <a:r>
              <a:rPr lang="es-ES" altLang="es-ES" sz="2400" b="1" dirty="0">
                <a:latin typeface="Source Sans Pro" panose="020B0503030403020204" pitchFamily="34" charset="0"/>
                <a:ea typeface="Source Sans Pro" panose="020B0503030403020204" pitchFamily="34" charset="0"/>
              </a:rPr>
              <a:t>Reflexión y alerta </a:t>
            </a:r>
            <a:r>
              <a:rPr lang="es-ES" altLang="es-ES" sz="24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(1955-1968)</a:t>
            </a:r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FCD5EBA-FD4B-204A-82B1-0D678E60EBF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5</a:t>
            </a:fld>
            <a:endParaRPr lang="es-ES"/>
          </a:p>
        </p:txBody>
      </p:sp>
      <p:pic>
        <p:nvPicPr>
          <p:cNvPr id="11" name="Picture 2" descr=" (Imgur.com, 2014)">
            <a:extLst>
              <a:ext uri="{FF2B5EF4-FFF2-40B4-BE49-F238E27FC236}">
                <a16:creationId xmlns:a16="http://schemas.microsoft.com/office/drawing/2014/main" id="{BA4A02FE-E61C-4741-37F7-39436907CA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3305" y="944522"/>
            <a:ext cx="3800119" cy="3058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Google Shape;112;p17">
            <a:extLst>
              <a:ext uri="{FF2B5EF4-FFF2-40B4-BE49-F238E27FC236}">
                <a16:creationId xmlns:a16="http://schemas.microsoft.com/office/drawing/2014/main" id="{DBC9056F-4939-6DCE-9489-EBF7977F40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08731" y="1140000"/>
            <a:ext cx="4339759" cy="28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s-ES" sz="2000" dirty="0"/>
              <a:t>Russell y Einstein instan a un mayor compromiso político</a:t>
            </a:r>
          </a:p>
          <a:p>
            <a:r>
              <a:rPr lang="es-ES" sz="2000" dirty="0"/>
              <a:t>Primer accidente nuclear (1957)</a:t>
            </a:r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lang="es-ES" sz="2000" dirty="0"/>
          </a:p>
          <a:p>
            <a:pPr marL="76200" lvl="0" indent="0" algn="l" rtl="0">
              <a:spcBef>
                <a:spcPts val="600"/>
              </a:spcBef>
              <a:spcAft>
                <a:spcPts val="0"/>
              </a:spcAft>
              <a:buSzPts val="2400"/>
              <a:buNone/>
            </a:pPr>
            <a:endParaRPr lang="es-ES" sz="2000" dirty="0"/>
          </a:p>
        </p:txBody>
      </p:sp>
    </p:spTree>
    <p:extLst>
      <p:ext uri="{BB962C8B-B14F-4D97-AF65-F5344CB8AC3E}">
        <p14:creationId xmlns:p14="http://schemas.microsoft.com/office/powerpoint/2010/main" val="1465523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6A693FBF-C4B9-7C7E-B9A0-ADC16E9CB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14F1680E-ED30-37D8-3947-5D5F72E63CDB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1.2</a:t>
            </a:r>
            <a:endParaRPr dirty="0"/>
          </a:p>
        </p:txBody>
      </p:sp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4B3DDD5D-BF04-B093-5B5A-6B1913292A1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800" y="3082250"/>
            <a:ext cx="6770594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 err="1"/>
              <a:t>Revisión</a:t>
            </a:r>
            <a:r>
              <a:rPr lang="en" dirty="0"/>
              <a:t> del </a:t>
            </a:r>
            <a:r>
              <a:rPr lang="en" dirty="0" err="1"/>
              <a:t>artículo</a:t>
            </a:r>
            <a:r>
              <a:rPr lang="en" dirty="0"/>
              <a:t> “Tienen </a:t>
            </a:r>
            <a:r>
              <a:rPr lang="en" dirty="0" err="1"/>
              <a:t>política</a:t>
            </a:r>
            <a:r>
              <a:rPr lang="en" dirty="0"/>
              <a:t> </a:t>
            </a:r>
            <a:r>
              <a:rPr lang="en" dirty="0" err="1"/>
              <a:t>los</a:t>
            </a:r>
            <a:r>
              <a:rPr lang="en" dirty="0"/>
              <a:t> </a:t>
            </a:r>
            <a:r>
              <a:rPr lang="en" dirty="0" err="1"/>
              <a:t>artefactos</a:t>
            </a:r>
            <a:r>
              <a:rPr lang="en" dirty="0"/>
              <a:t>”</a:t>
            </a:r>
            <a:endParaRPr dirty="0"/>
          </a:p>
        </p:txBody>
      </p:sp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032C3483-3AC5-CD05-1FA8-E82AC5D0083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799552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7AD8F-EFEC-D339-F4CA-36A622EAC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24" y="5598"/>
            <a:ext cx="4696219" cy="1140000"/>
          </a:xfrm>
        </p:spPr>
        <p:txBody>
          <a:bodyPr/>
          <a:lstStyle/>
          <a:p>
            <a:r>
              <a:rPr lang="es-ES" dirty="0"/>
              <a:t>Comentario del artículo: “¿Tienen política los artefactos?” (1984)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B0BEBFC-4624-CDA1-7FA1-20AA73B04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6169" y="1538075"/>
            <a:ext cx="8353587" cy="3387900"/>
          </a:xfrm>
        </p:spPr>
        <p:txBody>
          <a:bodyPr/>
          <a:lstStyle/>
          <a:p>
            <a:r>
              <a:rPr lang="es-ES" sz="1800" dirty="0"/>
              <a:t>Ideas iniciales y “posiblemente controvertidas”:</a:t>
            </a:r>
          </a:p>
          <a:p>
            <a:pPr lvl="1"/>
            <a:r>
              <a:rPr lang="es-ES" sz="1800" dirty="0"/>
              <a:t>Nuestras estructuras técnicas/tecnológicas pueden encarnar formas de poder y autoridad específicas (en nuestras sociedades)</a:t>
            </a:r>
          </a:p>
          <a:p>
            <a:r>
              <a:rPr lang="es-ES" sz="1800" dirty="0"/>
              <a:t>Relevante  hacia donde nos lleva la forma de pensar:</a:t>
            </a:r>
          </a:p>
          <a:p>
            <a:pPr lvl="1"/>
            <a:r>
              <a:rPr lang="es-ES" sz="1800" dirty="0"/>
              <a:t>que la tecnología es neutral conduce al determinismo social.</a:t>
            </a:r>
            <a:endParaRPr lang="es-ES" dirty="0"/>
          </a:p>
          <a:p>
            <a:pPr lvl="1"/>
            <a:r>
              <a:rPr lang="es-ES" sz="1800" b="1" dirty="0"/>
              <a:t>determinismo tecnológico ingenuo</a:t>
            </a:r>
            <a:r>
              <a:rPr lang="es-ES" sz="1800" dirty="0"/>
              <a:t>: la idea de que la tecnología se desarrolla únicamente como resultado de su dinámica interna y, entonces, al no hallarse mediatizada por ninguna otra influencia, moldea la sociedad para adecuarla a sus patrones. </a:t>
            </a:r>
            <a:endParaRPr lang="es-ES" dirty="0"/>
          </a:p>
          <a:p>
            <a:r>
              <a:rPr lang="es-ES" sz="1800" dirty="0"/>
              <a:t>Se persigue una forma de entender el fenómeno fuera de determinismos y que aporte mejor información</a:t>
            </a:r>
          </a:p>
          <a:p>
            <a:endParaRPr lang="es-ES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4B48167-C7FA-3F0B-1096-E9C1D585196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7</a:t>
            </a:fld>
            <a:endParaRPr lang="es-ES"/>
          </a:p>
        </p:txBody>
      </p:sp>
      <p:grpSp>
        <p:nvGrpSpPr>
          <p:cNvPr id="6" name="Google Shape;143;p18">
            <a:extLst>
              <a:ext uri="{FF2B5EF4-FFF2-40B4-BE49-F238E27FC236}">
                <a16:creationId xmlns:a16="http://schemas.microsoft.com/office/drawing/2014/main" id="{F783FD96-B989-D727-266D-D77CE9F8F068}"/>
              </a:ext>
            </a:extLst>
          </p:cNvPr>
          <p:cNvGrpSpPr/>
          <p:nvPr/>
        </p:nvGrpSpPr>
        <p:grpSpPr>
          <a:xfrm>
            <a:off x="6134870" y="1247078"/>
            <a:ext cx="320378" cy="320378"/>
            <a:chOff x="1278900" y="2333250"/>
            <a:chExt cx="381175" cy="381175"/>
          </a:xfrm>
        </p:grpSpPr>
        <p:sp>
          <p:nvSpPr>
            <p:cNvPr id="7" name="Google Shape;144;p18">
              <a:extLst>
                <a:ext uri="{FF2B5EF4-FFF2-40B4-BE49-F238E27FC236}">
                  <a16:creationId xmlns:a16="http://schemas.microsoft.com/office/drawing/2014/main" id="{CE74E22D-E548-2A53-0CC3-670408585A1F}"/>
                </a:ext>
              </a:extLst>
            </p:cNvPr>
            <p:cNvSpPr/>
            <p:nvPr/>
          </p:nvSpPr>
          <p:spPr>
            <a:xfrm>
              <a:off x="1278900" y="2333250"/>
              <a:ext cx="381175" cy="381175"/>
            </a:xfrm>
            <a:custGeom>
              <a:avLst/>
              <a:gdLst/>
              <a:ahLst/>
              <a:cxnLst/>
              <a:rect l="l" t="t" r="r" b="b"/>
              <a:pathLst>
                <a:path w="15247" h="15247" fill="none" extrusionOk="0">
                  <a:moveTo>
                    <a:pt x="7623" y="0"/>
                  </a:moveTo>
                  <a:lnTo>
                    <a:pt x="7623" y="0"/>
                  </a:lnTo>
                  <a:lnTo>
                    <a:pt x="7233" y="0"/>
                  </a:lnTo>
                  <a:lnTo>
                    <a:pt x="6844" y="49"/>
                  </a:lnTo>
                  <a:lnTo>
                    <a:pt x="6454" y="98"/>
                  </a:lnTo>
                  <a:lnTo>
                    <a:pt x="6089" y="147"/>
                  </a:lnTo>
                  <a:lnTo>
                    <a:pt x="5723" y="244"/>
                  </a:lnTo>
                  <a:lnTo>
                    <a:pt x="5358" y="341"/>
                  </a:lnTo>
                  <a:lnTo>
                    <a:pt x="4993" y="463"/>
                  </a:lnTo>
                  <a:lnTo>
                    <a:pt x="4652" y="609"/>
                  </a:lnTo>
                  <a:lnTo>
                    <a:pt x="4311" y="755"/>
                  </a:lnTo>
                  <a:lnTo>
                    <a:pt x="3994" y="926"/>
                  </a:lnTo>
                  <a:lnTo>
                    <a:pt x="3678" y="1096"/>
                  </a:lnTo>
                  <a:lnTo>
                    <a:pt x="3361" y="1291"/>
                  </a:lnTo>
                  <a:lnTo>
                    <a:pt x="3069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1" y="2241"/>
                  </a:lnTo>
                  <a:lnTo>
                    <a:pt x="1973" y="2509"/>
                  </a:lnTo>
                  <a:lnTo>
                    <a:pt x="1729" y="2777"/>
                  </a:lnTo>
                  <a:lnTo>
                    <a:pt x="1510" y="3069"/>
                  </a:lnTo>
                  <a:lnTo>
                    <a:pt x="1291" y="3361"/>
                  </a:lnTo>
                  <a:lnTo>
                    <a:pt x="1096" y="3678"/>
                  </a:lnTo>
                  <a:lnTo>
                    <a:pt x="926" y="3995"/>
                  </a:lnTo>
                  <a:lnTo>
                    <a:pt x="755" y="4311"/>
                  </a:lnTo>
                  <a:lnTo>
                    <a:pt x="609" y="4652"/>
                  </a:lnTo>
                  <a:lnTo>
                    <a:pt x="463" y="4993"/>
                  </a:lnTo>
                  <a:lnTo>
                    <a:pt x="341" y="5358"/>
                  </a:lnTo>
                  <a:lnTo>
                    <a:pt x="244" y="5724"/>
                  </a:lnTo>
                  <a:lnTo>
                    <a:pt x="146" y="6089"/>
                  </a:lnTo>
                  <a:lnTo>
                    <a:pt x="97" y="6454"/>
                  </a:lnTo>
                  <a:lnTo>
                    <a:pt x="49" y="6844"/>
                  </a:lnTo>
                  <a:lnTo>
                    <a:pt x="0" y="7234"/>
                  </a:lnTo>
                  <a:lnTo>
                    <a:pt x="0" y="7623"/>
                  </a:lnTo>
                  <a:lnTo>
                    <a:pt x="0" y="7623"/>
                  </a:lnTo>
                  <a:lnTo>
                    <a:pt x="0" y="8013"/>
                  </a:lnTo>
                  <a:lnTo>
                    <a:pt x="49" y="8403"/>
                  </a:lnTo>
                  <a:lnTo>
                    <a:pt x="97" y="8793"/>
                  </a:lnTo>
                  <a:lnTo>
                    <a:pt x="146" y="9158"/>
                  </a:lnTo>
                  <a:lnTo>
                    <a:pt x="244" y="9523"/>
                  </a:lnTo>
                  <a:lnTo>
                    <a:pt x="341" y="9889"/>
                  </a:lnTo>
                  <a:lnTo>
                    <a:pt x="463" y="10254"/>
                  </a:lnTo>
                  <a:lnTo>
                    <a:pt x="609" y="10595"/>
                  </a:lnTo>
                  <a:lnTo>
                    <a:pt x="755" y="10936"/>
                  </a:lnTo>
                  <a:lnTo>
                    <a:pt x="926" y="11252"/>
                  </a:lnTo>
                  <a:lnTo>
                    <a:pt x="1096" y="11569"/>
                  </a:lnTo>
                  <a:lnTo>
                    <a:pt x="1291" y="11886"/>
                  </a:lnTo>
                  <a:lnTo>
                    <a:pt x="1510" y="12178"/>
                  </a:lnTo>
                  <a:lnTo>
                    <a:pt x="1729" y="12470"/>
                  </a:lnTo>
                  <a:lnTo>
                    <a:pt x="1973" y="12738"/>
                  </a:lnTo>
                  <a:lnTo>
                    <a:pt x="2241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69" y="13737"/>
                  </a:lnTo>
                  <a:lnTo>
                    <a:pt x="3361" y="13956"/>
                  </a:lnTo>
                  <a:lnTo>
                    <a:pt x="3678" y="14151"/>
                  </a:lnTo>
                  <a:lnTo>
                    <a:pt x="3994" y="14321"/>
                  </a:lnTo>
                  <a:lnTo>
                    <a:pt x="4311" y="14492"/>
                  </a:lnTo>
                  <a:lnTo>
                    <a:pt x="4652" y="14638"/>
                  </a:lnTo>
                  <a:lnTo>
                    <a:pt x="4993" y="14784"/>
                  </a:lnTo>
                  <a:lnTo>
                    <a:pt x="5358" y="14906"/>
                  </a:lnTo>
                  <a:lnTo>
                    <a:pt x="5723" y="15003"/>
                  </a:lnTo>
                  <a:lnTo>
                    <a:pt x="6089" y="15100"/>
                  </a:lnTo>
                  <a:lnTo>
                    <a:pt x="6454" y="15149"/>
                  </a:lnTo>
                  <a:lnTo>
                    <a:pt x="6844" y="15198"/>
                  </a:lnTo>
                  <a:lnTo>
                    <a:pt x="7233" y="15247"/>
                  </a:lnTo>
                  <a:lnTo>
                    <a:pt x="7623" y="15247"/>
                  </a:lnTo>
                  <a:lnTo>
                    <a:pt x="7623" y="15247"/>
                  </a:lnTo>
                  <a:lnTo>
                    <a:pt x="8013" y="15247"/>
                  </a:lnTo>
                  <a:lnTo>
                    <a:pt x="8403" y="15198"/>
                  </a:lnTo>
                  <a:lnTo>
                    <a:pt x="8792" y="15149"/>
                  </a:lnTo>
                  <a:lnTo>
                    <a:pt x="9158" y="15100"/>
                  </a:lnTo>
                  <a:lnTo>
                    <a:pt x="9523" y="15003"/>
                  </a:lnTo>
                  <a:lnTo>
                    <a:pt x="9888" y="14906"/>
                  </a:lnTo>
                  <a:lnTo>
                    <a:pt x="10253" y="14784"/>
                  </a:lnTo>
                  <a:lnTo>
                    <a:pt x="10594" y="14638"/>
                  </a:lnTo>
                  <a:lnTo>
                    <a:pt x="10935" y="14492"/>
                  </a:lnTo>
                  <a:lnTo>
                    <a:pt x="11252" y="14321"/>
                  </a:lnTo>
                  <a:lnTo>
                    <a:pt x="11569" y="14151"/>
                  </a:lnTo>
                  <a:lnTo>
                    <a:pt x="11885" y="13956"/>
                  </a:lnTo>
                  <a:lnTo>
                    <a:pt x="12178" y="13737"/>
                  </a:lnTo>
                  <a:lnTo>
                    <a:pt x="12470" y="13517"/>
                  </a:lnTo>
                  <a:lnTo>
                    <a:pt x="12738" y="13274"/>
                  </a:lnTo>
                  <a:lnTo>
                    <a:pt x="13006" y="13006"/>
                  </a:lnTo>
                  <a:lnTo>
                    <a:pt x="13273" y="12738"/>
                  </a:lnTo>
                  <a:lnTo>
                    <a:pt x="13517" y="12470"/>
                  </a:lnTo>
                  <a:lnTo>
                    <a:pt x="13736" y="12178"/>
                  </a:lnTo>
                  <a:lnTo>
                    <a:pt x="13955" y="11886"/>
                  </a:lnTo>
                  <a:lnTo>
                    <a:pt x="14150" y="11569"/>
                  </a:lnTo>
                  <a:lnTo>
                    <a:pt x="14321" y="11252"/>
                  </a:lnTo>
                  <a:lnTo>
                    <a:pt x="14491" y="10936"/>
                  </a:lnTo>
                  <a:lnTo>
                    <a:pt x="14637" y="10595"/>
                  </a:lnTo>
                  <a:lnTo>
                    <a:pt x="14783" y="10254"/>
                  </a:lnTo>
                  <a:lnTo>
                    <a:pt x="14905" y="9889"/>
                  </a:lnTo>
                  <a:lnTo>
                    <a:pt x="15003" y="9523"/>
                  </a:lnTo>
                  <a:lnTo>
                    <a:pt x="15100" y="9158"/>
                  </a:lnTo>
                  <a:lnTo>
                    <a:pt x="15149" y="8793"/>
                  </a:lnTo>
                  <a:lnTo>
                    <a:pt x="15198" y="8403"/>
                  </a:lnTo>
                  <a:lnTo>
                    <a:pt x="15246" y="8013"/>
                  </a:lnTo>
                  <a:lnTo>
                    <a:pt x="15246" y="7623"/>
                  </a:lnTo>
                  <a:lnTo>
                    <a:pt x="15246" y="7623"/>
                  </a:lnTo>
                  <a:lnTo>
                    <a:pt x="15246" y="7234"/>
                  </a:lnTo>
                  <a:lnTo>
                    <a:pt x="15198" y="6844"/>
                  </a:lnTo>
                  <a:lnTo>
                    <a:pt x="15149" y="6454"/>
                  </a:lnTo>
                  <a:lnTo>
                    <a:pt x="15100" y="6089"/>
                  </a:lnTo>
                  <a:lnTo>
                    <a:pt x="15003" y="5724"/>
                  </a:lnTo>
                  <a:lnTo>
                    <a:pt x="14905" y="5358"/>
                  </a:lnTo>
                  <a:lnTo>
                    <a:pt x="14783" y="4993"/>
                  </a:lnTo>
                  <a:lnTo>
                    <a:pt x="14637" y="4652"/>
                  </a:lnTo>
                  <a:lnTo>
                    <a:pt x="14491" y="4311"/>
                  </a:lnTo>
                  <a:lnTo>
                    <a:pt x="14321" y="3995"/>
                  </a:lnTo>
                  <a:lnTo>
                    <a:pt x="14150" y="3678"/>
                  </a:lnTo>
                  <a:lnTo>
                    <a:pt x="13955" y="3361"/>
                  </a:lnTo>
                  <a:lnTo>
                    <a:pt x="13736" y="3069"/>
                  </a:lnTo>
                  <a:lnTo>
                    <a:pt x="13517" y="2777"/>
                  </a:lnTo>
                  <a:lnTo>
                    <a:pt x="13273" y="2509"/>
                  </a:lnTo>
                  <a:lnTo>
                    <a:pt x="13006" y="2241"/>
                  </a:lnTo>
                  <a:lnTo>
                    <a:pt x="12738" y="1973"/>
                  </a:lnTo>
                  <a:lnTo>
                    <a:pt x="12470" y="1730"/>
                  </a:lnTo>
                  <a:lnTo>
                    <a:pt x="12178" y="1510"/>
                  </a:lnTo>
                  <a:lnTo>
                    <a:pt x="11885" y="1291"/>
                  </a:lnTo>
                  <a:lnTo>
                    <a:pt x="11569" y="1096"/>
                  </a:lnTo>
                  <a:lnTo>
                    <a:pt x="11252" y="926"/>
                  </a:lnTo>
                  <a:lnTo>
                    <a:pt x="10935" y="755"/>
                  </a:lnTo>
                  <a:lnTo>
                    <a:pt x="10594" y="609"/>
                  </a:lnTo>
                  <a:lnTo>
                    <a:pt x="10253" y="463"/>
                  </a:lnTo>
                  <a:lnTo>
                    <a:pt x="9888" y="341"/>
                  </a:lnTo>
                  <a:lnTo>
                    <a:pt x="9523" y="244"/>
                  </a:lnTo>
                  <a:lnTo>
                    <a:pt x="9158" y="147"/>
                  </a:lnTo>
                  <a:lnTo>
                    <a:pt x="8792" y="98"/>
                  </a:lnTo>
                  <a:lnTo>
                    <a:pt x="8403" y="49"/>
                  </a:lnTo>
                  <a:lnTo>
                    <a:pt x="8013" y="0"/>
                  </a:lnTo>
                  <a:lnTo>
                    <a:pt x="7623" y="0"/>
                  </a:lnTo>
                  <a:lnTo>
                    <a:pt x="7623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145;p18">
              <a:extLst>
                <a:ext uri="{FF2B5EF4-FFF2-40B4-BE49-F238E27FC236}">
                  <a16:creationId xmlns:a16="http://schemas.microsoft.com/office/drawing/2014/main" id="{F8F7FD0C-E017-50AC-36B4-89D2CD628B6A}"/>
                </a:ext>
              </a:extLst>
            </p:cNvPr>
            <p:cNvSpPr/>
            <p:nvPr/>
          </p:nvSpPr>
          <p:spPr>
            <a:xfrm>
              <a:off x="15254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46;p18">
              <a:extLst>
                <a:ext uri="{FF2B5EF4-FFF2-40B4-BE49-F238E27FC236}">
                  <a16:creationId xmlns:a16="http://schemas.microsoft.com/office/drawing/2014/main" id="{1162267F-A930-5683-F46E-24A52C2FBE23}"/>
                </a:ext>
              </a:extLst>
            </p:cNvPr>
            <p:cNvSpPr/>
            <p:nvPr/>
          </p:nvSpPr>
          <p:spPr>
            <a:xfrm>
              <a:off x="13696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1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1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47;p18">
              <a:extLst>
                <a:ext uri="{FF2B5EF4-FFF2-40B4-BE49-F238E27FC236}">
                  <a16:creationId xmlns:a16="http://schemas.microsoft.com/office/drawing/2014/main" id="{3FE612F2-18FB-1323-DCCF-E085BB04D29E}"/>
                </a:ext>
              </a:extLst>
            </p:cNvPr>
            <p:cNvSpPr/>
            <p:nvPr/>
          </p:nvSpPr>
          <p:spPr>
            <a:xfrm>
              <a:off x="1369600" y="2604200"/>
              <a:ext cx="199750" cy="40825"/>
            </a:xfrm>
            <a:custGeom>
              <a:avLst/>
              <a:gdLst/>
              <a:ahLst/>
              <a:cxnLst/>
              <a:rect l="l" t="t" r="r" b="b"/>
              <a:pathLst>
                <a:path w="7990" h="1633" fill="none" extrusionOk="0">
                  <a:moveTo>
                    <a:pt x="7989" y="0"/>
                  </a:moveTo>
                  <a:lnTo>
                    <a:pt x="7989" y="0"/>
                  </a:lnTo>
                  <a:lnTo>
                    <a:pt x="7575" y="366"/>
                  </a:lnTo>
                  <a:lnTo>
                    <a:pt x="7137" y="707"/>
                  </a:lnTo>
                  <a:lnTo>
                    <a:pt x="6650" y="975"/>
                  </a:lnTo>
                  <a:lnTo>
                    <a:pt x="6163" y="1218"/>
                  </a:lnTo>
                  <a:lnTo>
                    <a:pt x="5627" y="1389"/>
                  </a:lnTo>
                  <a:lnTo>
                    <a:pt x="5115" y="1535"/>
                  </a:lnTo>
                  <a:lnTo>
                    <a:pt x="4555" y="1608"/>
                  </a:lnTo>
                  <a:lnTo>
                    <a:pt x="3995" y="1632"/>
                  </a:lnTo>
                  <a:lnTo>
                    <a:pt x="3995" y="1632"/>
                  </a:lnTo>
                  <a:lnTo>
                    <a:pt x="3435" y="1608"/>
                  </a:lnTo>
                  <a:lnTo>
                    <a:pt x="2875" y="1535"/>
                  </a:lnTo>
                  <a:lnTo>
                    <a:pt x="2363" y="1389"/>
                  </a:lnTo>
                  <a:lnTo>
                    <a:pt x="1828" y="1218"/>
                  </a:lnTo>
                  <a:lnTo>
                    <a:pt x="1340" y="975"/>
                  </a:lnTo>
                  <a:lnTo>
                    <a:pt x="853" y="707"/>
                  </a:lnTo>
                  <a:lnTo>
                    <a:pt x="415" y="366"/>
                  </a:lnTo>
                  <a:lnTo>
                    <a:pt x="1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138;p18">
            <a:extLst>
              <a:ext uri="{FF2B5EF4-FFF2-40B4-BE49-F238E27FC236}">
                <a16:creationId xmlns:a16="http://schemas.microsoft.com/office/drawing/2014/main" id="{225FC78B-B99D-7FFB-7075-205CA67DA8B0}"/>
              </a:ext>
            </a:extLst>
          </p:cNvPr>
          <p:cNvGrpSpPr/>
          <p:nvPr/>
        </p:nvGrpSpPr>
        <p:grpSpPr>
          <a:xfrm>
            <a:off x="7841620" y="3181753"/>
            <a:ext cx="320399" cy="320378"/>
            <a:chOff x="1951075" y="2333250"/>
            <a:chExt cx="381200" cy="381175"/>
          </a:xfrm>
        </p:grpSpPr>
        <p:sp>
          <p:nvSpPr>
            <p:cNvPr id="13" name="Google Shape;139;p18">
              <a:extLst>
                <a:ext uri="{FF2B5EF4-FFF2-40B4-BE49-F238E27FC236}">
                  <a16:creationId xmlns:a16="http://schemas.microsoft.com/office/drawing/2014/main" id="{240BED7B-4CDB-5D77-CB7B-81CD6DBF59F1}"/>
                </a:ext>
              </a:extLst>
            </p:cNvPr>
            <p:cNvSpPr/>
            <p:nvPr/>
          </p:nvSpPr>
          <p:spPr>
            <a:xfrm>
              <a:off x="1951075" y="2333250"/>
              <a:ext cx="381200" cy="381175"/>
            </a:xfrm>
            <a:custGeom>
              <a:avLst/>
              <a:gdLst/>
              <a:ahLst/>
              <a:cxnLst/>
              <a:rect l="l" t="t" r="r" b="b"/>
              <a:pathLst>
                <a:path w="15248" h="15247" fill="none" extrusionOk="0">
                  <a:moveTo>
                    <a:pt x="7624" y="0"/>
                  </a:moveTo>
                  <a:lnTo>
                    <a:pt x="7624" y="0"/>
                  </a:lnTo>
                  <a:lnTo>
                    <a:pt x="7234" y="0"/>
                  </a:lnTo>
                  <a:lnTo>
                    <a:pt x="6845" y="49"/>
                  </a:lnTo>
                  <a:lnTo>
                    <a:pt x="6455" y="98"/>
                  </a:lnTo>
                  <a:lnTo>
                    <a:pt x="6090" y="147"/>
                  </a:lnTo>
                  <a:lnTo>
                    <a:pt x="5724" y="244"/>
                  </a:lnTo>
                  <a:lnTo>
                    <a:pt x="5359" y="341"/>
                  </a:lnTo>
                  <a:lnTo>
                    <a:pt x="4994" y="463"/>
                  </a:lnTo>
                  <a:lnTo>
                    <a:pt x="4653" y="609"/>
                  </a:lnTo>
                  <a:lnTo>
                    <a:pt x="4312" y="755"/>
                  </a:lnTo>
                  <a:lnTo>
                    <a:pt x="3995" y="926"/>
                  </a:lnTo>
                  <a:lnTo>
                    <a:pt x="3678" y="1096"/>
                  </a:lnTo>
                  <a:lnTo>
                    <a:pt x="3362" y="1291"/>
                  </a:lnTo>
                  <a:lnTo>
                    <a:pt x="3070" y="1510"/>
                  </a:lnTo>
                  <a:lnTo>
                    <a:pt x="2777" y="1730"/>
                  </a:lnTo>
                  <a:lnTo>
                    <a:pt x="2509" y="1973"/>
                  </a:lnTo>
                  <a:lnTo>
                    <a:pt x="2242" y="2241"/>
                  </a:lnTo>
                  <a:lnTo>
                    <a:pt x="1974" y="2509"/>
                  </a:lnTo>
                  <a:lnTo>
                    <a:pt x="1730" y="2777"/>
                  </a:lnTo>
                  <a:lnTo>
                    <a:pt x="1511" y="3069"/>
                  </a:lnTo>
                  <a:lnTo>
                    <a:pt x="1292" y="3361"/>
                  </a:lnTo>
                  <a:lnTo>
                    <a:pt x="1097" y="3678"/>
                  </a:lnTo>
                  <a:lnTo>
                    <a:pt x="926" y="3995"/>
                  </a:lnTo>
                  <a:lnTo>
                    <a:pt x="756" y="4311"/>
                  </a:lnTo>
                  <a:lnTo>
                    <a:pt x="610" y="4652"/>
                  </a:lnTo>
                  <a:lnTo>
                    <a:pt x="464" y="4993"/>
                  </a:lnTo>
                  <a:lnTo>
                    <a:pt x="342" y="5358"/>
                  </a:lnTo>
                  <a:lnTo>
                    <a:pt x="244" y="5724"/>
                  </a:lnTo>
                  <a:lnTo>
                    <a:pt x="147" y="6089"/>
                  </a:lnTo>
                  <a:lnTo>
                    <a:pt x="98" y="6454"/>
                  </a:lnTo>
                  <a:lnTo>
                    <a:pt x="50" y="6844"/>
                  </a:lnTo>
                  <a:lnTo>
                    <a:pt x="1" y="7234"/>
                  </a:lnTo>
                  <a:lnTo>
                    <a:pt x="1" y="7623"/>
                  </a:lnTo>
                  <a:lnTo>
                    <a:pt x="1" y="7623"/>
                  </a:lnTo>
                  <a:lnTo>
                    <a:pt x="1" y="8013"/>
                  </a:lnTo>
                  <a:lnTo>
                    <a:pt x="50" y="8403"/>
                  </a:lnTo>
                  <a:lnTo>
                    <a:pt x="98" y="8793"/>
                  </a:lnTo>
                  <a:lnTo>
                    <a:pt x="147" y="9158"/>
                  </a:lnTo>
                  <a:lnTo>
                    <a:pt x="244" y="9523"/>
                  </a:lnTo>
                  <a:lnTo>
                    <a:pt x="342" y="9889"/>
                  </a:lnTo>
                  <a:lnTo>
                    <a:pt x="464" y="10254"/>
                  </a:lnTo>
                  <a:lnTo>
                    <a:pt x="610" y="10595"/>
                  </a:lnTo>
                  <a:lnTo>
                    <a:pt x="756" y="10936"/>
                  </a:lnTo>
                  <a:lnTo>
                    <a:pt x="926" y="11252"/>
                  </a:lnTo>
                  <a:lnTo>
                    <a:pt x="1097" y="11569"/>
                  </a:lnTo>
                  <a:lnTo>
                    <a:pt x="1292" y="11886"/>
                  </a:lnTo>
                  <a:lnTo>
                    <a:pt x="1511" y="12178"/>
                  </a:lnTo>
                  <a:lnTo>
                    <a:pt x="1730" y="12470"/>
                  </a:lnTo>
                  <a:lnTo>
                    <a:pt x="1974" y="12738"/>
                  </a:lnTo>
                  <a:lnTo>
                    <a:pt x="2242" y="13006"/>
                  </a:lnTo>
                  <a:lnTo>
                    <a:pt x="2509" y="13274"/>
                  </a:lnTo>
                  <a:lnTo>
                    <a:pt x="2777" y="13517"/>
                  </a:lnTo>
                  <a:lnTo>
                    <a:pt x="3070" y="13737"/>
                  </a:lnTo>
                  <a:lnTo>
                    <a:pt x="3362" y="13956"/>
                  </a:lnTo>
                  <a:lnTo>
                    <a:pt x="3678" y="14151"/>
                  </a:lnTo>
                  <a:lnTo>
                    <a:pt x="3995" y="14321"/>
                  </a:lnTo>
                  <a:lnTo>
                    <a:pt x="4312" y="14492"/>
                  </a:lnTo>
                  <a:lnTo>
                    <a:pt x="4653" y="14638"/>
                  </a:lnTo>
                  <a:lnTo>
                    <a:pt x="4994" y="14784"/>
                  </a:lnTo>
                  <a:lnTo>
                    <a:pt x="5359" y="14906"/>
                  </a:lnTo>
                  <a:lnTo>
                    <a:pt x="5724" y="15003"/>
                  </a:lnTo>
                  <a:lnTo>
                    <a:pt x="6090" y="15100"/>
                  </a:lnTo>
                  <a:lnTo>
                    <a:pt x="6455" y="15149"/>
                  </a:lnTo>
                  <a:lnTo>
                    <a:pt x="6845" y="15198"/>
                  </a:lnTo>
                  <a:lnTo>
                    <a:pt x="7234" y="15247"/>
                  </a:lnTo>
                  <a:lnTo>
                    <a:pt x="7624" y="15247"/>
                  </a:lnTo>
                  <a:lnTo>
                    <a:pt x="7624" y="15247"/>
                  </a:lnTo>
                  <a:lnTo>
                    <a:pt x="8014" y="15247"/>
                  </a:lnTo>
                  <a:lnTo>
                    <a:pt x="8403" y="15198"/>
                  </a:lnTo>
                  <a:lnTo>
                    <a:pt x="8793" y="15149"/>
                  </a:lnTo>
                  <a:lnTo>
                    <a:pt x="9158" y="15100"/>
                  </a:lnTo>
                  <a:lnTo>
                    <a:pt x="9524" y="15003"/>
                  </a:lnTo>
                  <a:lnTo>
                    <a:pt x="9889" y="14906"/>
                  </a:lnTo>
                  <a:lnTo>
                    <a:pt x="10254" y="14784"/>
                  </a:lnTo>
                  <a:lnTo>
                    <a:pt x="10595" y="14638"/>
                  </a:lnTo>
                  <a:lnTo>
                    <a:pt x="10936" y="14492"/>
                  </a:lnTo>
                  <a:lnTo>
                    <a:pt x="11253" y="14321"/>
                  </a:lnTo>
                  <a:lnTo>
                    <a:pt x="11569" y="14151"/>
                  </a:lnTo>
                  <a:lnTo>
                    <a:pt x="11886" y="13956"/>
                  </a:lnTo>
                  <a:lnTo>
                    <a:pt x="12178" y="13737"/>
                  </a:lnTo>
                  <a:lnTo>
                    <a:pt x="12471" y="13517"/>
                  </a:lnTo>
                  <a:lnTo>
                    <a:pt x="12739" y="13274"/>
                  </a:lnTo>
                  <a:lnTo>
                    <a:pt x="13006" y="13006"/>
                  </a:lnTo>
                  <a:lnTo>
                    <a:pt x="13274" y="12738"/>
                  </a:lnTo>
                  <a:lnTo>
                    <a:pt x="13518" y="12470"/>
                  </a:lnTo>
                  <a:lnTo>
                    <a:pt x="13737" y="12178"/>
                  </a:lnTo>
                  <a:lnTo>
                    <a:pt x="13956" y="11886"/>
                  </a:lnTo>
                  <a:lnTo>
                    <a:pt x="14151" y="11569"/>
                  </a:lnTo>
                  <a:lnTo>
                    <a:pt x="14322" y="11252"/>
                  </a:lnTo>
                  <a:lnTo>
                    <a:pt x="14492" y="10936"/>
                  </a:lnTo>
                  <a:lnTo>
                    <a:pt x="14638" y="10595"/>
                  </a:lnTo>
                  <a:lnTo>
                    <a:pt x="14784" y="10254"/>
                  </a:lnTo>
                  <a:lnTo>
                    <a:pt x="14906" y="9889"/>
                  </a:lnTo>
                  <a:lnTo>
                    <a:pt x="15004" y="9523"/>
                  </a:lnTo>
                  <a:lnTo>
                    <a:pt x="15101" y="9158"/>
                  </a:lnTo>
                  <a:lnTo>
                    <a:pt x="15150" y="8793"/>
                  </a:lnTo>
                  <a:lnTo>
                    <a:pt x="15198" y="8403"/>
                  </a:lnTo>
                  <a:lnTo>
                    <a:pt x="15247" y="8013"/>
                  </a:lnTo>
                  <a:lnTo>
                    <a:pt x="15247" y="7623"/>
                  </a:lnTo>
                  <a:lnTo>
                    <a:pt x="15247" y="7623"/>
                  </a:lnTo>
                  <a:lnTo>
                    <a:pt x="15247" y="7234"/>
                  </a:lnTo>
                  <a:lnTo>
                    <a:pt x="15198" y="6844"/>
                  </a:lnTo>
                  <a:lnTo>
                    <a:pt x="15150" y="6454"/>
                  </a:lnTo>
                  <a:lnTo>
                    <a:pt x="15101" y="6089"/>
                  </a:lnTo>
                  <a:lnTo>
                    <a:pt x="15004" y="5724"/>
                  </a:lnTo>
                  <a:lnTo>
                    <a:pt x="14906" y="5358"/>
                  </a:lnTo>
                  <a:lnTo>
                    <a:pt x="14784" y="4993"/>
                  </a:lnTo>
                  <a:lnTo>
                    <a:pt x="14638" y="4652"/>
                  </a:lnTo>
                  <a:lnTo>
                    <a:pt x="14492" y="4311"/>
                  </a:lnTo>
                  <a:lnTo>
                    <a:pt x="14322" y="3995"/>
                  </a:lnTo>
                  <a:lnTo>
                    <a:pt x="14151" y="3678"/>
                  </a:lnTo>
                  <a:lnTo>
                    <a:pt x="13956" y="3361"/>
                  </a:lnTo>
                  <a:lnTo>
                    <a:pt x="13737" y="3069"/>
                  </a:lnTo>
                  <a:lnTo>
                    <a:pt x="13518" y="2777"/>
                  </a:lnTo>
                  <a:lnTo>
                    <a:pt x="13274" y="2509"/>
                  </a:lnTo>
                  <a:lnTo>
                    <a:pt x="13006" y="2241"/>
                  </a:lnTo>
                  <a:lnTo>
                    <a:pt x="12739" y="1973"/>
                  </a:lnTo>
                  <a:lnTo>
                    <a:pt x="12471" y="1730"/>
                  </a:lnTo>
                  <a:lnTo>
                    <a:pt x="12178" y="1510"/>
                  </a:lnTo>
                  <a:lnTo>
                    <a:pt x="11886" y="1291"/>
                  </a:lnTo>
                  <a:lnTo>
                    <a:pt x="11569" y="1096"/>
                  </a:lnTo>
                  <a:lnTo>
                    <a:pt x="11253" y="926"/>
                  </a:lnTo>
                  <a:lnTo>
                    <a:pt x="10936" y="755"/>
                  </a:lnTo>
                  <a:lnTo>
                    <a:pt x="10595" y="609"/>
                  </a:lnTo>
                  <a:lnTo>
                    <a:pt x="10254" y="463"/>
                  </a:lnTo>
                  <a:lnTo>
                    <a:pt x="9889" y="341"/>
                  </a:lnTo>
                  <a:lnTo>
                    <a:pt x="9524" y="244"/>
                  </a:lnTo>
                  <a:lnTo>
                    <a:pt x="9158" y="147"/>
                  </a:lnTo>
                  <a:lnTo>
                    <a:pt x="8793" y="98"/>
                  </a:lnTo>
                  <a:lnTo>
                    <a:pt x="8403" y="49"/>
                  </a:lnTo>
                  <a:lnTo>
                    <a:pt x="8014" y="0"/>
                  </a:lnTo>
                  <a:lnTo>
                    <a:pt x="7624" y="0"/>
                  </a:lnTo>
                  <a:lnTo>
                    <a:pt x="7624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4" name="Google Shape;140;p18">
              <a:extLst>
                <a:ext uri="{FF2B5EF4-FFF2-40B4-BE49-F238E27FC236}">
                  <a16:creationId xmlns:a16="http://schemas.microsoft.com/office/drawing/2014/main" id="{52A1D338-CA20-45E8-3672-6632AB10F18A}"/>
                </a:ext>
              </a:extLst>
            </p:cNvPr>
            <p:cNvSpPr/>
            <p:nvPr/>
          </p:nvSpPr>
          <p:spPr>
            <a:xfrm>
              <a:off x="2197675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7" y="0"/>
                  </a:moveTo>
                  <a:lnTo>
                    <a:pt x="877" y="0"/>
                  </a:lnTo>
                  <a:lnTo>
                    <a:pt x="1048" y="25"/>
                  </a:lnTo>
                  <a:lnTo>
                    <a:pt x="1218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8" y="1827"/>
                  </a:lnTo>
                  <a:lnTo>
                    <a:pt x="1048" y="1876"/>
                  </a:lnTo>
                  <a:lnTo>
                    <a:pt x="877" y="1900"/>
                  </a:lnTo>
                  <a:lnTo>
                    <a:pt x="877" y="1900"/>
                  </a:lnTo>
                  <a:lnTo>
                    <a:pt x="707" y="1876"/>
                  </a:lnTo>
                  <a:lnTo>
                    <a:pt x="536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6" y="73"/>
                  </a:lnTo>
                  <a:lnTo>
                    <a:pt x="707" y="25"/>
                  </a:lnTo>
                  <a:lnTo>
                    <a:pt x="877" y="0"/>
                  </a:lnTo>
                  <a:lnTo>
                    <a:pt x="877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5" name="Google Shape;141;p18">
              <a:extLst>
                <a:ext uri="{FF2B5EF4-FFF2-40B4-BE49-F238E27FC236}">
                  <a16:creationId xmlns:a16="http://schemas.microsoft.com/office/drawing/2014/main" id="{A181004D-699C-2FDB-E645-4B191C25A5D5}"/>
                </a:ext>
              </a:extLst>
            </p:cNvPr>
            <p:cNvSpPr/>
            <p:nvPr/>
          </p:nvSpPr>
          <p:spPr>
            <a:xfrm>
              <a:off x="2041800" y="2503125"/>
              <a:ext cx="43875" cy="47525"/>
            </a:xfrm>
            <a:custGeom>
              <a:avLst/>
              <a:gdLst/>
              <a:ahLst/>
              <a:cxnLst/>
              <a:rect l="l" t="t" r="r" b="b"/>
              <a:pathLst>
                <a:path w="1755" h="1901" fill="none" extrusionOk="0">
                  <a:moveTo>
                    <a:pt x="878" y="0"/>
                  </a:moveTo>
                  <a:lnTo>
                    <a:pt x="878" y="0"/>
                  </a:lnTo>
                  <a:lnTo>
                    <a:pt x="1048" y="25"/>
                  </a:lnTo>
                  <a:lnTo>
                    <a:pt x="1219" y="73"/>
                  </a:lnTo>
                  <a:lnTo>
                    <a:pt x="1365" y="171"/>
                  </a:lnTo>
                  <a:lnTo>
                    <a:pt x="1511" y="268"/>
                  </a:lnTo>
                  <a:lnTo>
                    <a:pt x="1608" y="414"/>
                  </a:lnTo>
                  <a:lnTo>
                    <a:pt x="1681" y="585"/>
                  </a:lnTo>
                  <a:lnTo>
                    <a:pt x="1730" y="755"/>
                  </a:lnTo>
                  <a:lnTo>
                    <a:pt x="1754" y="950"/>
                  </a:lnTo>
                  <a:lnTo>
                    <a:pt x="1754" y="950"/>
                  </a:lnTo>
                  <a:lnTo>
                    <a:pt x="1730" y="1145"/>
                  </a:lnTo>
                  <a:lnTo>
                    <a:pt x="1681" y="1316"/>
                  </a:lnTo>
                  <a:lnTo>
                    <a:pt x="1608" y="1486"/>
                  </a:lnTo>
                  <a:lnTo>
                    <a:pt x="1511" y="1632"/>
                  </a:lnTo>
                  <a:lnTo>
                    <a:pt x="1365" y="1730"/>
                  </a:lnTo>
                  <a:lnTo>
                    <a:pt x="1219" y="1827"/>
                  </a:lnTo>
                  <a:lnTo>
                    <a:pt x="1048" y="1876"/>
                  </a:lnTo>
                  <a:lnTo>
                    <a:pt x="878" y="1900"/>
                  </a:lnTo>
                  <a:lnTo>
                    <a:pt x="878" y="1900"/>
                  </a:lnTo>
                  <a:lnTo>
                    <a:pt x="707" y="1876"/>
                  </a:lnTo>
                  <a:lnTo>
                    <a:pt x="537" y="1827"/>
                  </a:lnTo>
                  <a:lnTo>
                    <a:pt x="390" y="1730"/>
                  </a:lnTo>
                  <a:lnTo>
                    <a:pt x="244" y="1632"/>
                  </a:lnTo>
                  <a:lnTo>
                    <a:pt x="147" y="1486"/>
                  </a:lnTo>
                  <a:lnTo>
                    <a:pt x="74" y="1316"/>
                  </a:lnTo>
                  <a:lnTo>
                    <a:pt x="25" y="1145"/>
                  </a:lnTo>
                  <a:lnTo>
                    <a:pt x="1" y="950"/>
                  </a:lnTo>
                  <a:lnTo>
                    <a:pt x="1" y="950"/>
                  </a:lnTo>
                  <a:lnTo>
                    <a:pt x="25" y="755"/>
                  </a:lnTo>
                  <a:lnTo>
                    <a:pt x="74" y="585"/>
                  </a:lnTo>
                  <a:lnTo>
                    <a:pt x="147" y="414"/>
                  </a:lnTo>
                  <a:lnTo>
                    <a:pt x="244" y="268"/>
                  </a:lnTo>
                  <a:lnTo>
                    <a:pt x="390" y="171"/>
                  </a:lnTo>
                  <a:lnTo>
                    <a:pt x="537" y="73"/>
                  </a:lnTo>
                  <a:lnTo>
                    <a:pt x="707" y="25"/>
                  </a:lnTo>
                  <a:lnTo>
                    <a:pt x="878" y="0"/>
                  </a:lnTo>
                  <a:lnTo>
                    <a:pt x="878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16" name="Google Shape;142;p18">
              <a:extLst>
                <a:ext uri="{FF2B5EF4-FFF2-40B4-BE49-F238E27FC236}">
                  <a16:creationId xmlns:a16="http://schemas.microsoft.com/office/drawing/2014/main" id="{F5600BBC-4A04-C8FF-2A3C-B7C724BA6279}"/>
                </a:ext>
              </a:extLst>
            </p:cNvPr>
            <p:cNvSpPr/>
            <p:nvPr/>
          </p:nvSpPr>
          <p:spPr>
            <a:xfrm>
              <a:off x="2041800" y="2584100"/>
              <a:ext cx="199750" cy="41425"/>
            </a:xfrm>
            <a:custGeom>
              <a:avLst/>
              <a:gdLst/>
              <a:ahLst/>
              <a:cxnLst/>
              <a:rect l="l" t="t" r="r" b="b"/>
              <a:pathLst>
                <a:path w="7990" h="1657" fill="none" extrusionOk="0">
                  <a:moveTo>
                    <a:pt x="1" y="1657"/>
                  </a:moveTo>
                  <a:lnTo>
                    <a:pt x="1" y="1657"/>
                  </a:lnTo>
                  <a:lnTo>
                    <a:pt x="415" y="1291"/>
                  </a:lnTo>
                  <a:lnTo>
                    <a:pt x="853" y="950"/>
                  </a:lnTo>
                  <a:lnTo>
                    <a:pt x="1340" y="683"/>
                  </a:lnTo>
                  <a:lnTo>
                    <a:pt x="1827" y="439"/>
                  </a:lnTo>
                  <a:lnTo>
                    <a:pt x="2363" y="244"/>
                  </a:lnTo>
                  <a:lnTo>
                    <a:pt x="2875" y="122"/>
                  </a:lnTo>
                  <a:lnTo>
                    <a:pt x="3435" y="49"/>
                  </a:lnTo>
                  <a:lnTo>
                    <a:pt x="3995" y="1"/>
                  </a:lnTo>
                  <a:lnTo>
                    <a:pt x="3995" y="1"/>
                  </a:lnTo>
                  <a:lnTo>
                    <a:pt x="4555" y="49"/>
                  </a:lnTo>
                  <a:lnTo>
                    <a:pt x="5115" y="122"/>
                  </a:lnTo>
                  <a:lnTo>
                    <a:pt x="5627" y="244"/>
                  </a:lnTo>
                  <a:lnTo>
                    <a:pt x="6163" y="439"/>
                  </a:lnTo>
                  <a:lnTo>
                    <a:pt x="6650" y="683"/>
                  </a:lnTo>
                  <a:lnTo>
                    <a:pt x="7137" y="950"/>
                  </a:lnTo>
                  <a:lnTo>
                    <a:pt x="7575" y="1291"/>
                  </a:lnTo>
                  <a:lnTo>
                    <a:pt x="7989" y="1657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87791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30C32F-F4E4-CAA5-B0F5-0A02D7CD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Puentes clasistas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3C51911D-46C5-87E5-27AC-90191AF4A7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8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E8B1B00-F413-E262-689F-5199541DA18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85" y="1139999"/>
            <a:ext cx="7383289" cy="38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9731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EF72A-4C33-9207-A82B-6D9CF36FC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1479B7-6842-C57D-2BCD-1E9F8F3C4F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24" y="5598"/>
            <a:ext cx="5164489" cy="1140000"/>
          </a:xfrm>
        </p:spPr>
        <p:txBody>
          <a:bodyPr/>
          <a:lstStyle/>
          <a:p>
            <a:r>
              <a:rPr lang="es-ES" dirty="0"/>
              <a:t>Planes técnicos como forma de orden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1AA2D2-E5AB-03D5-4C5A-2DDEC647793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63068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B305B-F3E8-8C60-887C-295E7C7B5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58F64C-E26C-56F4-3A29-17D16EE4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Arquitectura “neutral”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A5E93EB9-685D-082B-3896-2B2A730A243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10</a:t>
            </a:fld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F8D18F0-C6AF-0D24-25AA-75264E11F0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374" y="1140000"/>
            <a:ext cx="2794240" cy="279424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A02D63AB-4DE2-A878-CB78-B25CBA540C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462" y="1140000"/>
            <a:ext cx="5505071" cy="2794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56388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68F7F1-29D2-E2B3-06AD-4DC7F12CCE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DBF263-A7A1-0551-C244-5ADB37AC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El caso de McCormick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CB2DA05-73AC-991F-2B28-D685522481B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11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49FA727-8028-A88B-7C57-0C3816225E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9021" y="1659139"/>
            <a:ext cx="5876007" cy="2486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71604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934B5-69ED-8577-D1DC-BB9A13C85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42D92E-BFDE-EF3A-2B9B-3F9756C3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“Next-</a:t>
            </a:r>
            <a:r>
              <a:rPr lang="es-ES" dirty="0" err="1"/>
              <a:t>automatization</a:t>
            </a:r>
            <a:r>
              <a:rPr lang="es-ES" dirty="0"/>
              <a:t>”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3E3167C-B079-1F5D-8DAC-A74510830E5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12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F35E7C45-7C0B-816A-B1C9-28B2EEA908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688" y="1140000"/>
            <a:ext cx="2955243" cy="1847027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FE7A8DA-0311-0378-64D0-94731B721D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52" y="3252318"/>
            <a:ext cx="2789447" cy="1569064"/>
          </a:xfrm>
          <a:prstGeom prst="rect">
            <a:avLst/>
          </a:prstGeom>
        </p:spPr>
      </p:pic>
      <p:pic>
        <p:nvPicPr>
          <p:cNvPr id="3074" name="Picture 2" descr="OCU alerta sobre los posibles riesgos de DeepSeek y exige una investigación  - La Verdad de Ceuta">
            <a:extLst>
              <a:ext uri="{FF2B5EF4-FFF2-40B4-BE49-F238E27FC236}">
                <a16:creationId xmlns:a16="http://schemas.microsoft.com/office/drawing/2014/main" id="{BCEAE213-ABBB-DC5B-C55A-11A12B4083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2649682"/>
            <a:ext cx="3746500" cy="2171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75818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B4DE0-BBB4-B2D2-5C25-01617AD23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4CC39-E744-6CE0-6521-8A1A96A83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24" y="5598"/>
            <a:ext cx="5057611" cy="1140000"/>
          </a:xfrm>
        </p:spPr>
        <p:txBody>
          <a:bodyPr/>
          <a:lstStyle/>
          <a:p>
            <a:r>
              <a:rPr lang="es-ES" dirty="0"/>
              <a:t>Tecnologías inherentemente políticas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989EA0-0F5E-AF9D-FC84-159DE5F242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976367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91DD6-9193-0687-F5F0-7441E76D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BD556-E5EB-7A40-C9D1-FFA178D2D6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24" y="5598"/>
            <a:ext cx="5057611" cy="1140000"/>
          </a:xfrm>
        </p:spPr>
        <p:txBody>
          <a:bodyPr/>
          <a:lstStyle/>
          <a:p>
            <a:r>
              <a:rPr lang="es-ES" dirty="0"/>
              <a:t>Tecnologías inherentemente políticas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8E57FF1-55D6-9F3D-F775-DD764A18597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14</a:t>
            </a:fld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01A017-E8B2-4EC6-2329-899AF0F8FB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424" y="1140001"/>
            <a:ext cx="3727576" cy="209961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D044D12-7F45-4BE2-E8D6-1359E6EA736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46899" y="2509806"/>
            <a:ext cx="4101216" cy="244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9356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A07CA5-F3FC-C7E2-3D8B-01572BF90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425" y="5598"/>
            <a:ext cx="5169000" cy="1140000"/>
          </a:xfrm>
        </p:spPr>
        <p:txBody>
          <a:bodyPr/>
          <a:lstStyle/>
          <a:p>
            <a:r>
              <a:rPr lang="es-ES" dirty="0"/>
              <a:t>Conclusiones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BD231E2-25A7-92F0-4CD4-3F131C029B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5" y="1538075"/>
            <a:ext cx="7661622" cy="3387900"/>
          </a:xfrm>
        </p:spPr>
        <p:txBody>
          <a:bodyPr/>
          <a:lstStyle/>
          <a:p>
            <a:pPr marL="76200" indent="0">
              <a:buNone/>
            </a:pPr>
            <a:r>
              <a:rPr lang="es-ES" sz="1800" dirty="0"/>
              <a:t>Necesidad de incluir  los lenguajes del diseño, política, moral, herramientas y usos</a:t>
            </a:r>
          </a:p>
          <a:p>
            <a:pPr marL="76200" indent="0">
              <a:buNone/>
            </a:pPr>
            <a:endParaRPr lang="es-ES" sz="1800" dirty="0"/>
          </a:p>
          <a:p>
            <a:pPr marL="76200" indent="0">
              <a:buNone/>
            </a:pPr>
            <a:r>
              <a:rPr lang="es-ES" sz="1800" dirty="0"/>
              <a:t>De las dos modalidades:</a:t>
            </a:r>
          </a:p>
          <a:p>
            <a:pPr marL="76200" indent="0">
              <a:buNone/>
            </a:pPr>
            <a:endParaRPr lang="es-ES" sz="1800" dirty="0"/>
          </a:p>
          <a:p>
            <a:r>
              <a:rPr lang="es-ES" sz="1800" dirty="0"/>
              <a:t>Una se trata del diseño</a:t>
            </a:r>
          </a:p>
          <a:p>
            <a:endParaRPr lang="es-ES" sz="1800" dirty="0"/>
          </a:p>
          <a:p>
            <a:r>
              <a:rPr lang="es-ES" sz="1800" dirty="0"/>
              <a:t>Otra, de características intrínsecas que modifican patrones sociales. Importante: NO EXISTEN DISEÑOS O PLANES ALTERNATIVOS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69FD086-4C04-65B0-8506-6FBE9959FB9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73636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EB39F413-88B1-F431-6931-E233961B5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8CC79743-1C42-37EF-B3CE-D0CC05D5C758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1.3</a:t>
            </a:r>
            <a:endParaRPr dirty="0"/>
          </a:p>
        </p:txBody>
      </p:sp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AC62DDCA-A2FB-A7A7-0CE3-D8D59365CB26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799" y="3082250"/>
            <a:ext cx="7503459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 err="1"/>
              <a:t>Revisión</a:t>
            </a:r>
            <a:r>
              <a:rPr lang="en" dirty="0"/>
              <a:t> del </a:t>
            </a:r>
            <a:r>
              <a:rPr lang="en" dirty="0" err="1"/>
              <a:t>artículo</a:t>
            </a:r>
            <a:r>
              <a:rPr lang="en" dirty="0"/>
              <a:t> “</a:t>
            </a:r>
            <a:r>
              <a:rPr lang="es-ES" dirty="0" err="1">
                <a:sym typeface="Dosis"/>
              </a:rPr>
              <a:t>On</a:t>
            </a:r>
            <a:r>
              <a:rPr lang="es-ES" dirty="0">
                <a:sym typeface="Dosis"/>
              </a:rPr>
              <a:t> Good and </a:t>
            </a:r>
            <a:r>
              <a:rPr lang="es-ES" dirty="0" err="1">
                <a:sym typeface="Dosis"/>
              </a:rPr>
              <a:t>Evil</a:t>
            </a:r>
            <a:r>
              <a:rPr lang="es-ES" dirty="0">
                <a:sym typeface="Dosis"/>
              </a:rPr>
              <a:t>, </a:t>
            </a:r>
            <a:r>
              <a:rPr lang="es-ES" dirty="0" err="1">
                <a:sym typeface="Dosis"/>
              </a:rPr>
              <a:t>the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Mistaken</a:t>
            </a:r>
            <a:r>
              <a:rPr lang="es-ES" dirty="0">
                <a:sym typeface="Dosis"/>
              </a:rPr>
              <a:t> Idea </a:t>
            </a:r>
            <a:r>
              <a:rPr lang="es-ES" dirty="0" err="1">
                <a:sym typeface="Dosis"/>
              </a:rPr>
              <a:t>That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Technology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Is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Ever</a:t>
            </a:r>
            <a:r>
              <a:rPr lang="es-ES" dirty="0">
                <a:sym typeface="Dosis"/>
              </a:rPr>
              <a:t> Neutral, and </a:t>
            </a:r>
            <a:r>
              <a:rPr lang="es-ES" dirty="0" err="1">
                <a:sym typeface="Dosis"/>
              </a:rPr>
              <a:t>the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Importance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of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the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Double‑Charge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Thesis</a:t>
            </a:r>
            <a:r>
              <a:rPr lang="en" dirty="0"/>
              <a:t>”</a:t>
            </a:r>
            <a:endParaRPr dirty="0"/>
          </a:p>
        </p:txBody>
      </p:sp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11E5F8A4-41E2-1997-86E8-3DF2FFC1F9F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988991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>
          <a:extLst>
            <a:ext uri="{FF2B5EF4-FFF2-40B4-BE49-F238E27FC236}">
              <a16:creationId xmlns:a16="http://schemas.microsoft.com/office/drawing/2014/main" id="{1364CE65-1C8F-8A45-E9FA-DF2F19717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>
            <a:extLst>
              <a:ext uri="{FF2B5EF4-FFF2-40B4-BE49-F238E27FC236}">
                <a16:creationId xmlns:a16="http://schemas.microsoft.com/office/drawing/2014/main" id="{EC933A0D-9041-3071-3B52-D1CF8E681ED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685800" y="1907659"/>
            <a:ext cx="5008200" cy="10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Tema 1.4</a:t>
            </a:r>
            <a:endParaRPr dirty="0"/>
          </a:p>
        </p:txBody>
      </p:sp>
      <p:sp>
        <p:nvSpPr>
          <p:cNvPr id="99" name="Google Shape;99;p15">
            <a:extLst>
              <a:ext uri="{FF2B5EF4-FFF2-40B4-BE49-F238E27FC236}">
                <a16:creationId xmlns:a16="http://schemas.microsoft.com/office/drawing/2014/main" id="{647CD3C6-27EE-9807-7B12-8646CC7FE54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85799" y="3082250"/>
            <a:ext cx="7503459" cy="68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" dirty="0" err="1"/>
              <a:t>Revisión</a:t>
            </a:r>
            <a:r>
              <a:rPr lang="en" dirty="0"/>
              <a:t> del </a:t>
            </a:r>
            <a:r>
              <a:rPr lang="en" dirty="0" err="1"/>
              <a:t>artículo</a:t>
            </a:r>
            <a:r>
              <a:rPr lang="en" dirty="0"/>
              <a:t> “</a:t>
            </a:r>
            <a:r>
              <a:rPr lang="es-ES" dirty="0">
                <a:sym typeface="Dosis"/>
              </a:rPr>
              <a:t>Dual‑use </a:t>
            </a:r>
            <a:r>
              <a:rPr lang="es-ES" dirty="0" err="1">
                <a:sym typeface="Dosis"/>
              </a:rPr>
              <a:t>implications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of</a:t>
            </a:r>
            <a:r>
              <a:rPr lang="es-ES" dirty="0">
                <a:sym typeface="Dosis"/>
              </a:rPr>
              <a:t> AI </a:t>
            </a:r>
            <a:r>
              <a:rPr lang="es-ES" dirty="0" err="1">
                <a:sym typeface="Dosis"/>
              </a:rPr>
              <a:t>text</a:t>
            </a:r>
            <a:r>
              <a:rPr lang="es-ES" dirty="0">
                <a:sym typeface="Dosis"/>
              </a:rPr>
              <a:t> </a:t>
            </a:r>
            <a:r>
              <a:rPr lang="es-ES" dirty="0" err="1">
                <a:sym typeface="Dosis"/>
              </a:rPr>
              <a:t>generation</a:t>
            </a:r>
            <a:r>
              <a:rPr lang="en" dirty="0"/>
              <a:t>”</a:t>
            </a:r>
            <a:endParaRPr dirty="0"/>
          </a:p>
        </p:txBody>
      </p:sp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9312B92B-0B7C-69A7-0639-1F20D8B16E7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-75" y="3420000"/>
            <a:ext cx="669600" cy="172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919390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7BBDAD-7271-6EC0-1BE3-DE8266E6D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Mitcham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FBCA6C-9FD6-C9A7-6F77-8469FB56A7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4424" y="1538075"/>
            <a:ext cx="7842375" cy="3387900"/>
          </a:xfrm>
        </p:spPr>
        <p:txBody>
          <a:bodyPr/>
          <a:lstStyle/>
          <a:p>
            <a:pPr marL="76200" indent="0">
              <a:buNone/>
            </a:pPr>
            <a:r>
              <a:rPr lang="es-ES" sz="2000" dirty="0"/>
              <a:t>“A pesar de los continuos esfuerzos por atajar los problemas de la humanidad por medio de la investigación científica y la innovación tecnológica, las respuestas siguen siendo fundamentalmente de carácter </a:t>
            </a:r>
            <a:r>
              <a:rPr lang="es-ES" sz="2000" b="1" dirty="0"/>
              <a:t>ético</a:t>
            </a:r>
            <a:r>
              <a:rPr lang="es-ES" sz="2000" dirty="0"/>
              <a:t>”</a:t>
            </a:r>
          </a:p>
          <a:p>
            <a:pPr marL="76200" indent="0">
              <a:buNone/>
            </a:pPr>
            <a:r>
              <a:rPr lang="es-ES" sz="2000" dirty="0"/>
              <a:t>“Las soluciones tecnológicas a estos problemas requieren una reflexión ética acerca de </a:t>
            </a:r>
            <a:r>
              <a:rPr lang="es-ES" sz="2000" b="1" dirty="0"/>
              <a:t>cuál es la mejor opción entre las disponibles</a:t>
            </a:r>
            <a:r>
              <a:rPr lang="es-ES" sz="2000" dirty="0"/>
              <a:t>. Sin embargo, estamos tan abrumados con las crisis contrapuestas y los argumentos divergentes de los distintos grupos de interés a favor de diferentes soluciones que a menudo nos resulta difícil pensar”</a:t>
            </a:r>
          </a:p>
          <a:p>
            <a:pPr marL="76200" indent="0">
              <a:buNone/>
            </a:pPr>
            <a:endParaRPr lang="es-ES" sz="2000" dirty="0"/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7AB9813-648E-C3CD-67D1-68E3783479A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18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49164841"/>
      </p:ext>
    </p:extLst>
  </p:cSld>
  <p:clrMapOvr>
    <a:masterClrMapping/>
  </p:clrMapOvr>
</p:sld>
</file>

<file path=ppt/theme/theme1.xml><?xml version="1.0" encoding="utf-8"?>
<a:theme xmlns:a="http://schemas.openxmlformats.org/drawingml/2006/main" name="Cerimon template">
  <a:themeElements>
    <a:clrScheme name="Custom 347">
      <a:dk1>
        <a:srgbClr val="415665"/>
      </a:dk1>
      <a:lt1>
        <a:srgbClr val="FFFFFF"/>
      </a:lt1>
      <a:dk2>
        <a:srgbClr val="0DB7C4"/>
      </a:dk2>
      <a:lt2>
        <a:srgbClr val="F6F6F6"/>
      </a:lt2>
      <a:accent1>
        <a:srgbClr val="0A95B0"/>
      </a:accent1>
      <a:accent2>
        <a:srgbClr val="A7E5E9"/>
      </a:accent2>
      <a:accent3>
        <a:srgbClr val="A9D039"/>
      </a:accent3>
      <a:accent4>
        <a:srgbClr val="FFBC00"/>
      </a:accent4>
      <a:accent5>
        <a:srgbClr val="F24745"/>
      </a:accent5>
      <a:accent6>
        <a:srgbClr val="B3B3B3"/>
      </a:accent6>
      <a:hlink>
        <a:srgbClr val="0DB7C4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509</Words>
  <Application>Microsoft Macintosh PowerPoint</Application>
  <PresentationFormat>Presentación en pantalla (16:9)</PresentationFormat>
  <Paragraphs>68</Paragraphs>
  <Slides>18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Montserrat</vt:lpstr>
      <vt:lpstr>Source Sans Pro</vt:lpstr>
      <vt:lpstr>Arial</vt:lpstr>
      <vt:lpstr>Dosis</vt:lpstr>
      <vt:lpstr>Corbel</vt:lpstr>
      <vt:lpstr>Cerimon template</vt:lpstr>
      <vt:lpstr>Ética para la inteligencia artificial</vt:lpstr>
      <vt:lpstr>Tema 1</vt:lpstr>
      <vt:lpstr>ÍNDICE</vt:lpstr>
      <vt:lpstr>Tecno-optimismo (1945-1955)</vt:lpstr>
      <vt:lpstr>Reflexión y alerta (1955-1968)</vt:lpstr>
      <vt:lpstr>Tema 1.2</vt:lpstr>
      <vt:lpstr>Comentario del artículo: “¿Tienen política los artefactos?” (1984)</vt:lpstr>
      <vt:lpstr>Puentes clasistas</vt:lpstr>
      <vt:lpstr>Planes técnicos como forma de orden</vt:lpstr>
      <vt:lpstr>Arquitectura “neutral”</vt:lpstr>
      <vt:lpstr>El caso de McCormick</vt:lpstr>
      <vt:lpstr>“Next-automatization”</vt:lpstr>
      <vt:lpstr>Tecnologías inherentemente políticas</vt:lpstr>
      <vt:lpstr>Tecnologías inherentemente políticas</vt:lpstr>
      <vt:lpstr>Conclusiones</vt:lpstr>
      <vt:lpstr>Tema 1.3</vt:lpstr>
      <vt:lpstr>Tema 1.4</vt:lpstr>
      <vt:lpstr>Mitcham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Malicious actors profiling and detection in Online Social Networks through Artificial Intelligence</dc:title>
  <cp:lastModifiedBy>SERGIO ALEJANDRO D ANTONIO MACEIRAS</cp:lastModifiedBy>
  <cp:revision>12</cp:revision>
  <dcterms:modified xsi:type="dcterms:W3CDTF">2026-02-06T10:48:40Z</dcterms:modified>
</cp:coreProperties>
</file>