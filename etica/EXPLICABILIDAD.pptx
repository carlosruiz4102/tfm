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6"/>
  </p:notesMasterIdLst>
  <p:sldIdLst>
    <p:sldId id="297" r:id="rId2"/>
    <p:sldId id="259" r:id="rId3"/>
    <p:sldId id="299" r:id="rId4"/>
    <p:sldId id="349" r:id="rId5"/>
    <p:sldId id="298" r:id="rId6"/>
    <p:sldId id="261" r:id="rId7"/>
    <p:sldId id="350" r:id="rId8"/>
    <p:sldId id="328" r:id="rId9"/>
    <p:sldId id="258" r:id="rId10"/>
    <p:sldId id="351" r:id="rId11"/>
    <p:sldId id="352" r:id="rId12"/>
    <p:sldId id="353" r:id="rId13"/>
    <p:sldId id="354" r:id="rId14"/>
    <p:sldId id="355" r:id="rId15"/>
  </p:sldIdLst>
  <p:sldSz cx="9144000" cy="5143500" type="screen16x9"/>
  <p:notesSz cx="6858000" cy="9144000"/>
  <p:embeddedFontLst>
    <p:embeddedFont>
      <p:font typeface="Lato" panose="020B0604020202020204" charset="0"/>
      <p:regular r:id="rId17"/>
      <p:bold r:id="rId18"/>
      <p:italic r:id="rId19"/>
      <p:boldItalic r:id="rId20"/>
    </p:embeddedFont>
    <p:embeddedFont>
      <p:font typeface="Dosis" panose="020B0604020202020204" charset="0"/>
      <p:regular r:id="rId21"/>
      <p:bold r:id="rId22"/>
    </p:embeddedFont>
    <p:embeddedFont>
      <p:font typeface="Source Sans Pro" panose="020B0604020202020204" charset="0"/>
      <p:regular r:id="rId23"/>
      <p:bold r:id="rId24"/>
      <p:italic r:id="rId25"/>
      <p:boldItalic r:id="rId26"/>
    </p:embeddedFont>
    <p:embeddedFont>
      <p:font typeface="Montserrat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831A3151-9A5F-4043-B398-5A28B8B9250F}">
          <p14:sldIdLst>
            <p14:sldId id="297"/>
            <p14:sldId id="259"/>
            <p14:sldId id="299"/>
            <p14:sldId id="349"/>
            <p14:sldId id="298"/>
            <p14:sldId id="261"/>
            <p14:sldId id="350"/>
            <p14:sldId id="328"/>
            <p14:sldId id="258"/>
            <p14:sldId id="351"/>
            <p14:sldId id="352"/>
            <p14:sldId id="353"/>
            <p14:sldId id="354"/>
            <p14:sldId id="35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12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896514-1AA1-4EE5-A447-7E556EC08B63}">
  <a:tblStyle styleId="{B3896514-1AA1-4EE5-A447-7E556EC08B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EE65728-0D21-4A9D-A831-D487195EC54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22" autoAdjust="0"/>
    <p:restoredTop sz="94694"/>
  </p:normalViewPr>
  <p:slideViewPr>
    <p:cSldViewPr snapToGrid="0">
      <p:cViewPr varScale="1">
        <p:scale>
          <a:sx n="89" d="100"/>
          <a:sy n="89" d="100"/>
        </p:scale>
        <p:origin x="57" y="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6665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9553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1624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3645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5274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17630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44449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59988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83487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4281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-150" y="4156675"/>
            <a:ext cx="9144000" cy="27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-150" y="0"/>
            <a:ext cx="9144000" cy="41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525225"/>
            <a:ext cx="5309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 rot="10800000">
            <a:off x="-150" y="3082200"/>
            <a:ext cx="9144000" cy="6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 flipH="1">
            <a:off x="-150" y="0"/>
            <a:ext cx="9144000" cy="308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50082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 flipH="1">
            <a:off x="-75" y="0"/>
            <a:ext cx="669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/>
          <p:nvPr/>
        </p:nvSpPr>
        <p:spPr>
          <a:xfrm flipH="1">
            <a:off x="-75" y="0"/>
            <a:ext cx="669600" cy="114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44425" y="1538075"/>
            <a:ext cx="5169000" cy="3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▹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⬩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⬞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44425" y="1538075"/>
            <a:ext cx="5169000" cy="3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ans Pro"/>
              <a:buChar char="▹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▸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⬩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⬞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13" name="Imagen 12" descr="Texto&#10;&#10;Descripción generada automáticamente con confianza baja">
            <a:extLst>
              <a:ext uri="{FF2B5EF4-FFF2-40B4-BE49-F238E27FC236}">
                <a16:creationId xmlns:a16="http://schemas.microsoft.com/office/drawing/2014/main" id="{12E5CF5E-C549-0442-C138-7119D0FC519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386738" y="69199"/>
            <a:ext cx="1650258" cy="606628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ctrTitle"/>
          </p:nvPr>
        </p:nvSpPr>
        <p:spPr>
          <a:xfrm>
            <a:off x="791300" y="1213449"/>
            <a:ext cx="4677000" cy="14600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dirty="0" err="1" smtClean="0">
                <a:latin typeface="Montserrat"/>
                <a:ea typeface="Montserrat"/>
                <a:cs typeface="Montserrat"/>
                <a:sym typeface="Montserrat"/>
              </a:rPr>
              <a:t>EXPLICABILIDAD</a:t>
            </a:r>
            <a:r>
              <a:rPr lang="es-ES" sz="3600" b="1" dirty="0" smtClean="0">
                <a:latin typeface="Montserrat"/>
                <a:ea typeface="Montserrat"/>
                <a:cs typeface="Montserrat"/>
                <a:sym typeface="Montserrat"/>
              </a:rPr>
              <a:t/>
            </a:r>
            <a:br>
              <a:rPr lang="es-ES" sz="3600" b="1" dirty="0" smtClean="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-ES" sz="3600" b="1" dirty="0" smtClean="0"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s-ES" sz="3600" b="1" dirty="0" err="1" smtClean="0">
                <a:latin typeface="Montserrat"/>
                <a:ea typeface="Montserrat"/>
                <a:cs typeface="Montserrat"/>
                <a:sym typeface="Montserrat"/>
              </a:rPr>
              <a:t>XAI</a:t>
            </a:r>
            <a:r>
              <a:rPr lang="es-ES" sz="3600" b="1" dirty="0" smtClean="0"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36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2"/>
          <p:cNvSpPr txBox="1"/>
          <p:nvPr/>
        </p:nvSpPr>
        <p:spPr>
          <a:xfrm>
            <a:off x="695388" y="3062825"/>
            <a:ext cx="49053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Tema </a:t>
            </a:r>
            <a:r>
              <a:rPr lang="en" sz="1500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16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8" name="Google Shape;7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84150"/>
            <a:ext cx="1478604" cy="686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Imagen 17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796EB558-2C22-596B-87F3-25680CCB5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853" y="480064"/>
            <a:ext cx="3201222" cy="3201222"/>
          </a:xfrm>
          <a:prstGeom prst="rect">
            <a:avLst/>
          </a:prstGeom>
        </p:spPr>
      </p:pic>
      <p:pic>
        <p:nvPicPr>
          <p:cNvPr id="20" name="Imagen 19" descr="Texto&#10;&#10;Descripción generada automáticamente con confianza baja">
            <a:extLst>
              <a:ext uri="{FF2B5EF4-FFF2-40B4-BE49-F238E27FC236}">
                <a16:creationId xmlns:a16="http://schemas.microsoft.com/office/drawing/2014/main" id="{33E645A4-D3CF-8E92-8C71-2BE57102AE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525" y="4456937"/>
            <a:ext cx="1793681" cy="659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5</a:t>
            </a:r>
            <a:endParaRPr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50082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CONTEXTO EXPLICABILIDAD (XAI)</a:t>
            </a:r>
            <a:endParaRPr dirty="0"/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844424" y="5598"/>
            <a:ext cx="4048523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CONCEPTO </a:t>
            </a:r>
            <a:r>
              <a:rPr lang="es-ES" dirty="0" err="1" smtClean="0"/>
              <a:t>XAI</a:t>
            </a:r>
            <a:endParaRPr dirty="0"/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" name="Rectángulo 1"/>
          <p:cNvSpPr/>
          <p:nvPr/>
        </p:nvSpPr>
        <p:spPr>
          <a:xfrm>
            <a:off x="914401" y="1518056"/>
            <a:ext cx="764875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latin typeface="Lato" panose="020B0604020202020204" charset="0"/>
                <a:cs typeface="Lato" panose="020B0604020202020204" charset="0"/>
              </a:rPr>
              <a:t> E</a:t>
            </a:r>
            <a:r>
              <a:rPr lang="es-ES" sz="2400" dirty="0" smtClean="0">
                <a:latin typeface="Lato" panose="020B0604020202020204" charset="0"/>
                <a:cs typeface="Lato" panose="020B0604020202020204" charset="0"/>
              </a:rPr>
              <a:t>s </a:t>
            </a:r>
            <a:r>
              <a:rPr lang="es-ES" sz="2400" dirty="0">
                <a:latin typeface="Lato" panose="020B0604020202020204" charset="0"/>
                <a:cs typeface="Lato" panose="020B0604020202020204" charset="0"/>
              </a:rPr>
              <a:t>el área de la inteligencia artificial que se encarga de presentar el aprendizaje de las máquinas como un proceso comprensible para el ser </a:t>
            </a:r>
            <a:r>
              <a:rPr lang="es-ES" sz="2400" dirty="0" smtClean="0">
                <a:latin typeface="Lato" panose="020B0604020202020204" charset="0"/>
                <a:cs typeface="Lato" panose="020B0604020202020204" charset="0"/>
              </a:rPr>
              <a:t>humano.</a:t>
            </a:r>
          </a:p>
          <a:p>
            <a:endParaRPr lang="es-ES" sz="2400" dirty="0" smtClean="0">
              <a:latin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87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844424" y="5598"/>
            <a:ext cx="4048523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CONCEPTO </a:t>
            </a:r>
            <a:r>
              <a:rPr lang="es-ES" dirty="0" err="1" smtClean="0"/>
              <a:t>XAI</a:t>
            </a:r>
            <a:endParaRPr dirty="0"/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" name="Rectángulo 1"/>
          <p:cNvSpPr/>
          <p:nvPr/>
        </p:nvSpPr>
        <p:spPr>
          <a:xfrm>
            <a:off x="914401" y="1518056"/>
            <a:ext cx="764875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latin typeface="Lato" panose="020B0604020202020204" charset="0"/>
                <a:cs typeface="Lato" panose="020B0604020202020204" charset="0"/>
              </a:rPr>
              <a:t> </a:t>
            </a:r>
            <a:r>
              <a:rPr lang="es-ES" sz="2400" dirty="0" smtClean="0">
                <a:latin typeface="Lato" panose="020B0604020202020204" charset="0"/>
                <a:cs typeface="Lato" panose="020B0604020202020204" charset="0"/>
              </a:rPr>
              <a:t> Es el conjunto </a:t>
            </a:r>
            <a:r>
              <a:rPr lang="es-ES" sz="2400" dirty="0">
                <a:latin typeface="Lato" panose="020B0604020202020204" charset="0"/>
                <a:cs typeface="Lato" panose="020B0604020202020204" charset="0"/>
              </a:rPr>
              <a:t>de procesos y métodos que permiten a los usuarios humanos comprender y confiar en los resultados y productos creados por algoritmos de aprendizaje automático. La </a:t>
            </a:r>
            <a:r>
              <a:rPr lang="es-ES" sz="2400" dirty="0" err="1">
                <a:latin typeface="Lato" panose="020B0604020202020204" charset="0"/>
                <a:cs typeface="Lato" panose="020B0604020202020204" charset="0"/>
              </a:rPr>
              <a:t>XAI</a:t>
            </a:r>
            <a:r>
              <a:rPr lang="es-ES" sz="2400" dirty="0">
                <a:latin typeface="Lato" panose="020B0604020202020204" charset="0"/>
                <a:cs typeface="Lato" panose="020B0604020202020204" charset="0"/>
              </a:rPr>
              <a:t> se utiliza para describir un modelo de </a:t>
            </a:r>
            <a:r>
              <a:rPr lang="es-ES" sz="2400" dirty="0" err="1">
                <a:latin typeface="Lato" panose="020B0604020202020204" charset="0"/>
                <a:cs typeface="Lato" panose="020B0604020202020204" charset="0"/>
              </a:rPr>
              <a:t>AI</a:t>
            </a:r>
            <a:r>
              <a:rPr lang="es-ES" sz="2400" dirty="0">
                <a:latin typeface="Lato" panose="020B0604020202020204" charset="0"/>
                <a:cs typeface="Lato" panose="020B0604020202020204" charset="0"/>
              </a:rPr>
              <a:t>, su impacto previsto y sus posibles sesgos.</a:t>
            </a:r>
            <a:endParaRPr lang="es-ES" sz="2400" dirty="0" smtClean="0">
              <a:latin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829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844424" y="5598"/>
            <a:ext cx="4048523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XAI</a:t>
            </a:r>
            <a:endParaRPr dirty="0"/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532" y="1007728"/>
            <a:ext cx="6495535" cy="3474918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1288211" y="4595004"/>
            <a:ext cx="74647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i="1" dirty="0" err="1" smtClean="0">
                <a:latin typeface="Source Sans Pro" panose="020B0604020202020204" charset="0"/>
              </a:rPr>
              <a:t>European</a:t>
            </a:r>
            <a:r>
              <a:rPr lang="es-ES" sz="1300" i="1" dirty="0" smtClean="0">
                <a:latin typeface="Source Sans Pro" panose="020B0604020202020204" charset="0"/>
              </a:rPr>
              <a:t> </a:t>
            </a:r>
            <a:r>
              <a:rPr lang="es-ES" sz="1300" i="1" dirty="0" err="1" smtClean="0">
                <a:latin typeface="Source Sans Pro" panose="020B0604020202020204" charset="0"/>
              </a:rPr>
              <a:t>Union</a:t>
            </a:r>
            <a:r>
              <a:rPr lang="es-ES" sz="1300" i="1" dirty="0" smtClean="0">
                <a:latin typeface="Source Sans Pro" panose="020B0604020202020204" charset="0"/>
              </a:rPr>
              <a:t> </a:t>
            </a:r>
            <a:r>
              <a:rPr lang="es-ES" sz="1300" i="1" dirty="0" err="1" smtClean="0">
                <a:latin typeface="Source Sans Pro" panose="020B0604020202020204" charset="0"/>
              </a:rPr>
              <a:t>Intellectual</a:t>
            </a:r>
            <a:r>
              <a:rPr lang="es-ES" sz="1300" i="1" dirty="0" smtClean="0">
                <a:latin typeface="Source Sans Pro" panose="020B0604020202020204" charset="0"/>
              </a:rPr>
              <a:t> </a:t>
            </a:r>
            <a:r>
              <a:rPr lang="es-ES" sz="1300" i="1" dirty="0" err="1" smtClean="0">
                <a:latin typeface="Source Sans Pro" panose="020B0604020202020204" charset="0"/>
              </a:rPr>
              <a:t>Property</a:t>
            </a:r>
            <a:r>
              <a:rPr lang="es-ES" sz="1300" i="1" dirty="0" smtClean="0">
                <a:latin typeface="Source Sans Pro" panose="020B0604020202020204" charset="0"/>
              </a:rPr>
              <a:t> Office: </a:t>
            </a:r>
            <a:r>
              <a:rPr lang="es-ES" sz="1300" i="1" dirty="0" err="1" smtClean="0">
                <a:latin typeface="Source Sans Pro" panose="020B0604020202020204" charset="0"/>
              </a:rPr>
              <a:t>Study</a:t>
            </a:r>
            <a:r>
              <a:rPr lang="es-ES" sz="1300" i="1" dirty="0" smtClean="0">
                <a:latin typeface="Source Sans Pro" panose="020B0604020202020204" charset="0"/>
              </a:rPr>
              <a:t> </a:t>
            </a:r>
            <a:r>
              <a:rPr lang="es-ES" sz="1300" i="1" dirty="0" err="1" smtClean="0">
                <a:latin typeface="Source Sans Pro" panose="020B0604020202020204" charset="0"/>
              </a:rPr>
              <a:t>on</a:t>
            </a:r>
            <a:r>
              <a:rPr lang="es-ES" sz="1300" i="1" dirty="0" smtClean="0">
                <a:latin typeface="Source Sans Pro" panose="020B0604020202020204" charset="0"/>
              </a:rPr>
              <a:t> </a:t>
            </a:r>
            <a:r>
              <a:rPr lang="es-ES" sz="1300" i="1" dirty="0" err="1" smtClean="0">
                <a:latin typeface="Source Sans Pro" panose="020B0604020202020204" charset="0"/>
              </a:rPr>
              <a:t>the</a:t>
            </a:r>
            <a:r>
              <a:rPr lang="es-ES" sz="1300" i="1" dirty="0" smtClean="0">
                <a:latin typeface="Source Sans Pro" panose="020B0604020202020204" charset="0"/>
              </a:rPr>
              <a:t> </a:t>
            </a:r>
            <a:r>
              <a:rPr lang="es-ES" sz="1300" i="1" dirty="0" err="1" smtClean="0">
                <a:latin typeface="Source Sans Pro" panose="020B0604020202020204" charset="0"/>
              </a:rPr>
              <a:t>impact</a:t>
            </a:r>
            <a:r>
              <a:rPr lang="es-ES" sz="1300" i="1" dirty="0" smtClean="0">
                <a:latin typeface="Source Sans Pro" panose="020B0604020202020204" charset="0"/>
              </a:rPr>
              <a:t> of Artificial </a:t>
            </a:r>
            <a:r>
              <a:rPr lang="es-ES" sz="1300" i="1" dirty="0" err="1" smtClean="0">
                <a:latin typeface="Source Sans Pro" panose="020B0604020202020204" charset="0"/>
              </a:rPr>
              <a:t>Intelligence</a:t>
            </a:r>
            <a:r>
              <a:rPr lang="es-ES" sz="1300" i="1" dirty="0" smtClean="0">
                <a:latin typeface="Source Sans Pro" panose="020B0604020202020204" charset="0"/>
              </a:rPr>
              <a:t> </a:t>
            </a:r>
            <a:r>
              <a:rPr lang="es-ES" sz="1300" i="1" dirty="0" err="1" smtClean="0">
                <a:latin typeface="Source Sans Pro" panose="020B0604020202020204" charset="0"/>
              </a:rPr>
              <a:t>on</a:t>
            </a:r>
            <a:r>
              <a:rPr lang="es-ES" sz="1300" i="1" dirty="0" smtClean="0">
                <a:latin typeface="Source Sans Pro" panose="020B0604020202020204" charset="0"/>
              </a:rPr>
              <a:t> </a:t>
            </a:r>
            <a:r>
              <a:rPr lang="es-ES" sz="1300" i="1" dirty="0" err="1" smtClean="0">
                <a:latin typeface="Source Sans Pro" panose="020B0604020202020204" charset="0"/>
              </a:rPr>
              <a:t>the</a:t>
            </a:r>
            <a:r>
              <a:rPr lang="es-ES" sz="1300" i="1" dirty="0" smtClean="0">
                <a:latin typeface="Source Sans Pro" panose="020B0604020202020204" charset="0"/>
              </a:rPr>
              <a:t> </a:t>
            </a:r>
            <a:r>
              <a:rPr lang="es-ES" sz="1300" i="1" dirty="0" err="1" smtClean="0">
                <a:latin typeface="Source Sans Pro" panose="020B0604020202020204" charset="0"/>
              </a:rPr>
              <a:t>Infrigement</a:t>
            </a:r>
            <a:r>
              <a:rPr lang="es-ES" sz="1300" i="1" dirty="0" smtClean="0">
                <a:latin typeface="Source Sans Pro" panose="020B0604020202020204" charset="0"/>
              </a:rPr>
              <a:t> and </a:t>
            </a:r>
            <a:r>
              <a:rPr lang="es-ES" sz="1300" i="1" dirty="0" err="1" smtClean="0">
                <a:latin typeface="Source Sans Pro" panose="020B0604020202020204" charset="0"/>
              </a:rPr>
              <a:t>enforcement</a:t>
            </a:r>
            <a:r>
              <a:rPr lang="es-ES" sz="1300" i="1" dirty="0" smtClean="0">
                <a:latin typeface="Source Sans Pro" panose="020B0604020202020204" charset="0"/>
              </a:rPr>
              <a:t> of copyright and </a:t>
            </a:r>
            <a:r>
              <a:rPr lang="es-ES" sz="1300" i="1" dirty="0" err="1" smtClean="0">
                <a:latin typeface="Source Sans Pro" panose="020B0604020202020204" charset="0"/>
              </a:rPr>
              <a:t>designs</a:t>
            </a:r>
            <a:r>
              <a:rPr lang="es-ES" sz="1300" i="1" dirty="0" smtClean="0">
                <a:latin typeface="Source Sans Pro" panose="020B0604020202020204" charset="0"/>
              </a:rPr>
              <a:t>. ISBN: 978-92-9156-312-8 (2022)</a:t>
            </a:r>
            <a:endParaRPr lang="es-ES" sz="1300" i="1" dirty="0"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38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EXPLICABILIDAD (XAI) ¿POR QUÉ?</a:t>
            </a:r>
            <a:endParaRPr dirty="0"/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2A4C2CA-70DC-826C-398C-C5F6F894C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333" y="1029163"/>
            <a:ext cx="7424807" cy="3723272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844425" y="4618008"/>
            <a:ext cx="8081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i="1" dirty="0" smtClean="0"/>
              <a:t>Ali</a:t>
            </a:r>
            <a:r>
              <a:rPr lang="es-ES" sz="1200" i="1" dirty="0"/>
              <a:t>, S., </a:t>
            </a:r>
            <a:r>
              <a:rPr lang="es-ES" sz="1200" i="1" dirty="0" err="1"/>
              <a:t>Abuhmed</a:t>
            </a:r>
            <a:r>
              <a:rPr lang="es-ES" sz="1200" i="1" dirty="0"/>
              <a:t>, T</a:t>
            </a:r>
            <a:r>
              <a:rPr lang="es-ES" sz="1200" i="1" dirty="0" smtClean="0"/>
              <a:t>., et </a:t>
            </a:r>
            <a:r>
              <a:rPr lang="es-ES" sz="1200" i="1" dirty="0" err="1" smtClean="0"/>
              <a:t>all</a:t>
            </a:r>
            <a:r>
              <a:rPr lang="es-ES" sz="1200" i="1" dirty="0" smtClean="0"/>
              <a:t> 2023</a:t>
            </a:r>
            <a:r>
              <a:rPr lang="es-ES" sz="1200" i="1" dirty="0"/>
              <a:t>. </a:t>
            </a:r>
            <a:r>
              <a:rPr lang="es-ES" sz="1200" i="1" dirty="0" err="1"/>
              <a:t>Explainable</a:t>
            </a:r>
            <a:r>
              <a:rPr lang="es-ES" sz="1200" i="1" dirty="0"/>
              <a:t> artificial </a:t>
            </a:r>
            <a:r>
              <a:rPr lang="es-ES" sz="1200" i="1" dirty="0" err="1"/>
              <a:t>intelligence</a:t>
            </a:r>
            <a:r>
              <a:rPr lang="es-ES" sz="1200" i="1" dirty="0"/>
              <a:t> (</a:t>
            </a:r>
            <a:r>
              <a:rPr lang="es-ES" sz="1200" i="1" dirty="0" err="1"/>
              <a:t>xai</a:t>
            </a:r>
            <a:r>
              <a:rPr lang="es-ES" sz="1200" i="1" dirty="0"/>
              <a:t>): </a:t>
            </a:r>
            <a:r>
              <a:rPr lang="es-ES" sz="1200" i="1" dirty="0" err="1"/>
              <a:t>What</a:t>
            </a:r>
            <a:r>
              <a:rPr lang="es-ES" sz="1200" i="1" dirty="0"/>
              <a:t> </a:t>
            </a:r>
            <a:r>
              <a:rPr lang="es-ES" sz="1200" i="1" dirty="0" err="1"/>
              <a:t>we</a:t>
            </a:r>
            <a:r>
              <a:rPr lang="es-ES" sz="1200" i="1" dirty="0"/>
              <a:t> </a:t>
            </a:r>
            <a:r>
              <a:rPr lang="es-ES" sz="1200" i="1" dirty="0" err="1"/>
              <a:t>know</a:t>
            </a:r>
            <a:r>
              <a:rPr lang="es-ES" sz="1200" i="1" dirty="0"/>
              <a:t> and </a:t>
            </a:r>
            <a:r>
              <a:rPr lang="es-ES" sz="1200" i="1" dirty="0" err="1"/>
              <a:t>what</a:t>
            </a:r>
            <a:r>
              <a:rPr lang="es-ES" sz="1200" i="1" dirty="0"/>
              <a:t> </a:t>
            </a:r>
            <a:r>
              <a:rPr lang="es-ES" sz="1200" i="1" dirty="0" err="1"/>
              <a:t>is</a:t>
            </a:r>
            <a:r>
              <a:rPr lang="es-ES" sz="1200" i="1" dirty="0"/>
              <a:t> </a:t>
            </a:r>
            <a:r>
              <a:rPr lang="es-ES" sz="1200" i="1" dirty="0" err="1"/>
              <a:t>left</a:t>
            </a:r>
            <a:r>
              <a:rPr lang="es-ES" sz="1200" i="1" dirty="0"/>
              <a:t> to </a:t>
            </a:r>
            <a:r>
              <a:rPr lang="es-ES" sz="1200" i="1" dirty="0" err="1"/>
              <a:t>attain</a:t>
            </a:r>
            <a:r>
              <a:rPr lang="es-ES" sz="1200" i="1" dirty="0"/>
              <a:t> </a:t>
            </a:r>
            <a:r>
              <a:rPr lang="es-ES" sz="1200" i="1" dirty="0" err="1"/>
              <a:t>trustworthy</a:t>
            </a:r>
            <a:r>
              <a:rPr lang="es-ES" sz="1200" i="1" dirty="0"/>
              <a:t> artificial </a:t>
            </a:r>
            <a:r>
              <a:rPr lang="es-ES" sz="1200" i="1" dirty="0" err="1"/>
              <a:t>intelligence</a:t>
            </a:r>
            <a:r>
              <a:rPr lang="es-ES" sz="1200" i="1" dirty="0"/>
              <a:t>. </a:t>
            </a:r>
            <a:r>
              <a:rPr lang="es-ES" sz="1200" i="1" dirty="0" err="1"/>
              <a:t>Information</a:t>
            </a:r>
            <a:r>
              <a:rPr lang="es-ES" sz="1200" i="1" dirty="0"/>
              <a:t> </a:t>
            </a:r>
            <a:r>
              <a:rPr lang="es-ES" sz="1200" i="1" dirty="0" err="1"/>
              <a:t>fusion</a:t>
            </a:r>
            <a:r>
              <a:rPr lang="es-ES" sz="1200" i="1" dirty="0"/>
              <a:t> 99, 101805. </a:t>
            </a:r>
            <a:r>
              <a:rPr lang="es-ES" sz="1200" i="1" dirty="0" err="1"/>
              <a:t>URL</a:t>
            </a:r>
            <a:r>
              <a:rPr lang="es-ES" sz="1200" i="1" dirty="0"/>
              <a:t>: https://</a:t>
            </a:r>
            <a:r>
              <a:rPr lang="es-ES" sz="1200" i="1" dirty="0" err="1" smtClean="0"/>
              <a:t>doi.org</a:t>
            </a:r>
            <a:r>
              <a:rPr lang="es-ES" sz="1200" i="1" dirty="0" smtClean="0"/>
              <a:t>/10.1016/</a:t>
            </a:r>
            <a:r>
              <a:rPr lang="es-ES" sz="1200" i="1" dirty="0" err="1" smtClean="0"/>
              <a:t>j.inffus.2023.101805</a:t>
            </a:r>
            <a:r>
              <a:rPr lang="es-ES" sz="1200" i="1" dirty="0" smtClean="0"/>
              <a:t> </a:t>
            </a:r>
            <a:endParaRPr lang="es-ES" sz="1200" i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EXPLICABILIDAD (XAI) ¿POR QUÉ?</a:t>
            </a:r>
            <a:endParaRPr dirty="0"/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" name="CuadroTexto 1"/>
          <p:cNvSpPr txBox="1"/>
          <p:nvPr/>
        </p:nvSpPr>
        <p:spPr>
          <a:xfrm>
            <a:off x="953692" y="4439729"/>
            <a:ext cx="8081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i="1" dirty="0" err="1"/>
              <a:t>Angelov</a:t>
            </a:r>
            <a:r>
              <a:rPr lang="es-ES" sz="1200" i="1" dirty="0"/>
              <a:t>, P.P., </a:t>
            </a:r>
            <a:r>
              <a:rPr lang="es-ES" sz="1200" i="1" dirty="0" err="1"/>
              <a:t>Soares</a:t>
            </a:r>
            <a:r>
              <a:rPr lang="es-ES" sz="1200" i="1" dirty="0"/>
              <a:t>, </a:t>
            </a:r>
            <a:r>
              <a:rPr lang="es-ES" sz="1200" i="1" dirty="0" err="1"/>
              <a:t>E.A</a:t>
            </a:r>
            <a:r>
              <a:rPr lang="es-ES" sz="1200" i="1" dirty="0"/>
              <a:t>., </a:t>
            </a:r>
            <a:r>
              <a:rPr lang="es-ES" sz="1200" i="1" dirty="0" err="1"/>
              <a:t>Jiang</a:t>
            </a:r>
            <a:r>
              <a:rPr lang="es-ES" sz="1200" i="1" dirty="0"/>
              <a:t>, R., </a:t>
            </a:r>
            <a:r>
              <a:rPr lang="es-ES" sz="1200" i="1" dirty="0" err="1"/>
              <a:t>Arnold</a:t>
            </a:r>
            <a:r>
              <a:rPr lang="es-ES" sz="1200" i="1" dirty="0"/>
              <a:t>, </a:t>
            </a:r>
            <a:r>
              <a:rPr lang="es-ES" sz="1200" i="1" dirty="0" err="1"/>
              <a:t>N.I</a:t>
            </a:r>
            <a:r>
              <a:rPr lang="es-ES" sz="1200" i="1" dirty="0"/>
              <a:t>., </a:t>
            </a:r>
            <a:r>
              <a:rPr lang="es-ES" sz="1200" i="1" dirty="0" err="1"/>
              <a:t>Atkinson</a:t>
            </a:r>
            <a:r>
              <a:rPr lang="es-ES" sz="1200" i="1" dirty="0"/>
              <a:t>, P.M., 2021. </a:t>
            </a:r>
            <a:r>
              <a:rPr lang="es-ES" sz="1200" i="1" dirty="0" err="1"/>
              <a:t>Explainable</a:t>
            </a:r>
            <a:r>
              <a:rPr lang="es-ES" sz="1200" i="1" dirty="0"/>
              <a:t> artificial </a:t>
            </a:r>
            <a:r>
              <a:rPr lang="es-ES" sz="1200" i="1" dirty="0" err="1"/>
              <a:t>intelligence</a:t>
            </a:r>
            <a:r>
              <a:rPr lang="es-ES" sz="1200" i="1" dirty="0"/>
              <a:t>: </a:t>
            </a:r>
            <a:r>
              <a:rPr lang="es-ES" sz="1200" i="1" dirty="0" err="1"/>
              <a:t>an</a:t>
            </a:r>
            <a:r>
              <a:rPr lang="es-ES" sz="1200" i="1" dirty="0"/>
              <a:t> </a:t>
            </a:r>
            <a:r>
              <a:rPr lang="es-ES" sz="1200" i="1" dirty="0" err="1"/>
              <a:t>analytical</a:t>
            </a:r>
            <a:r>
              <a:rPr lang="es-ES" sz="1200" i="1" dirty="0"/>
              <a:t> </a:t>
            </a:r>
            <a:r>
              <a:rPr lang="es-ES" sz="1200" i="1" dirty="0" err="1"/>
              <a:t>review</a:t>
            </a:r>
            <a:r>
              <a:rPr lang="es-ES" sz="1200" i="1" dirty="0"/>
              <a:t>. </a:t>
            </a:r>
            <a:r>
              <a:rPr lang="es-ES" sz="1200" i="1" dirty="0" err="1"/>
              <a:t>Wiley</a:t>
            </a:r>
            <a:r>
              <a:rPr lang="es-ES" sz="1200" i="1" dirty="0"/>
              <a:t> </a:t>
            </a:r>
            <a:r>
              <a:rPr lang="es-ES" sz="1200" i="1" dirty="0" err="1"/>
              <a:t>Interdisciplinary</a:t>
            </a:r>
            <a:r>
              <a:rPr lang="es-ES" sz="1200" i="1" dirty="0"/>
              <a:t> </a:t>
            </a:r>
            <a:r>
              <a:rPr lang="es-ES" sz="1200" i="1" dirty="0" err="1"/>
              <a:t>Reviews</a:t>
            </a:r>
            <a:r>
              <a:rPr lang="es-ES" sz="1200" i="1" dirty="0"/>
              <a:t>: Data </a:t>
            </a:r>
            <a:r>
              <a:rPr lang="es-ES" sz="1200" i="1" dirty="0" err="1"/>
              <a:t>Mining</a:t>
            </a:r>
            <a:r>
              <a:rPr lang="es-ES" sz="1200" i="1" dirty="0"/>
              <a:t> and </a:t>
            </a:r>
            <a:r>
              <a:rPr lang="es-ES" sz="1200" i="1" dirty="0" err="1"/>
              <a:t>Knowledge</a:t>
            </a:r>
            <a:r>
              <a:rPr lang="es-ES" sz="1200" i="1" dirty="0"/>
              <a:t> Discovery 11, </a:t>
            </a:r>
            <a:r>
              <a:rPr lang="es-ES" sz="1200" i="1" dirty="0" err="1"/>
              <a:t>e1424</a:t>
            </a:r>
            <a:r>
              <a:rPr lang="es-ES" sz="1200" i="1" dirty="0"/>
              <a:t>. </a:t>
            </a:r>
            <a:r>
              <a:rPr lang="es-ES" sz="1200" i="1" dirty="0" err="1"/>
              <a:t>URL</a:t>
            </a:r>
            <a:r>
              <a:rPr lang="es-ES" sz="1200" i="1" dirty="0"/>
              <a:t>: https://</a:t>
            </a:r>
            <a:r>
              <a:rPr lang="es-ES" sz="1200" i="1" dirty="0" err="1"/>
              <a:t>doi.org</a:t>
            </a:r>
            <a:r>
              <a:rPr lang="es-ES" sz="1200" i="1" dirty="0"/>
              <a:t>/10.1002/</a:t>
            </a:r>
            <a:r>
              <a:rPr lang="es-ES" sz="1200" i="1" dirty="0" err="1"/>
              <a:t>widm.1424</a:t>
            </a:r>
            <a:endParaRPr lang="es-ES" sz="1200" i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05DA432-9318-FB7A-FE77-9139CD183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966" y="1140000"/>
            <a:ext cx="5090663" cy="313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181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</a:t>
            </a:r>
            <a:r>
              <a:rPr lang="en" dirty="0"/>
              <a:t>5</a:t>
            </a:r>
            <a:endParaRPr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50082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Técnicas de Interpretabilidad Post-hoc</a:t>
            </a:r>
            <a:endParaRPr dirty="0"/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8448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IA</a:t>
            </a:r>
            <a:r>
              <a:rPr lang="es-ES" dirty="0" smtClean="0"/>
              <a:t> EXPLICABLE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3412FF2-3373-ADBD-A27A-598B1D5E3862}"/>
              </a:ext>
            </a:extLst>
          </p:cNvPr>
          <p:cNvSpPr txBox="1"/>
          <p:nvPr/>
        </p:nvSpPr>
        <p:spPr>
          <a:xfrm>
            <a:off x="1110951" y="1316781"/>
            <a:ext cx="754997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i="1" dirty="0">
                <a:latin typeface="Source Sans Pro" panose="020B0604020202020204" charset="0"/>
              </a:rPr>
              <a:t>Técnicas de interpretabilidad post-hoc</a:t>
            </a:r>
            <a:r>
              <a:rPr lang="es-ES" sz="2400" b="1" i="1" dirty="0" smtClean="0">
                <a:latin typeface="Source Sans Pro" panose="020B0604020202020204" charset="0"/>
              </a:rPr>
              <a:t>:</a:t>
            </a:r>
            <a:endParaRPr lang="es-ES" sz="2400" b="1" i="1" dirty="0">
              <a:latin typeface="Source Sans Pro" panose="020B0604020202020204" charset="0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s-ES" sz="2200" dirty="0">
                <a:latin typeface="Source Sans Pro" panose="020B0604020202020204" charset="0"/>
              </a:rPr>
              <a:t>explicar los resultados basándose en la información proporcionada por las ponderaciones otorgadas a las variables de entrada por parte de los modelos.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s-ES" sz="2200" dirty="0">
                <a:latin typeface="Source Sans Pro" panose="020B0604020202020204" charset="0"/>
              </a:rPr>
              <a:t>son útiles para comprender los resultados de los modelos.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s-ES" sz="2200" dirty="0">
                <a:latin typeface="Source Sans Pro" panose="020B0604020202020204" charset="0"/>
              </a:rPr>
              <a:t>no proporcionan información sobre el proceso de entrenamiento ni explican la lógica interna del algoritmo.</a:t>
            </a:r>
          </a:p>
          <a:p>
            <a:pPr marL="457200" lvl="1"/>
            <a:endParaRPr lang="es-ES" sz="24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IA</a:t>
            </a:r>
            <a:r>
              <a:rPr lang="es-ES" dirty="0" smtClean="0"/>
              <a:t> EXPLICABLE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3412FF2-3373-ADBD-A27A-598B1D5E3862}"/>
              </a:ext>
            </a:extLst>
          </p:cNvPr>
          <p:cNvSpPr txBox="1"/>
          <p:nvPr/>
        </p:nvSpPr>
        <p:spPr>
          <a:xfrm>
            <a:off x="1110951" y="1316781"/>
            <a:ext cx="754997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s-ES" sz="2200" dirty="0" smtClean="0">
                <a:latin typeface="Source Sans Pro" panose="020B0604020202020204" charset="0"/>
              </a:rPr>
              <a:t>Se </a:t>
            </a:r>
            <a:r>
              <a:rPr lang="es-ES" sz="2200" dirty="0">
                <a:latin typeface="Source Sans Pro" panose="020B0604020202020204" charset="0"/>
              </a:rPr>
              <a:t>clasifican: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endParaRPr lang="es-ES" sz="2200" dirty="0">
              <a:latin typeface="Source Sans Pro" panose="020B0604020202020204" charset="0"/>
            </a:endParaRP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es-ES" sz="2200" dirty="0">
                <a:latin typeface="Source Sans Pro" panose="020B0604020202020204" charset="0"/>
              </a:rPr>
              <a:t>Por el ALCANCE: Explicaciones GLOBALES/Explicaciones LOCALES.</a:t>
            </a: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es-ES" sz="2200" dirty="0">
                <a:latin typeface="Source Sans Pro" panose="020B0604020202020204" charset="0"/>
              </a:rPr>
              <a:t>Por la BÚSQUEDA EMPLEADA: Basadas en GRADIENTES/Basadas en PERTURBACIONES.</a:t>
            </a: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es-ES" sz="2200" dirty="0">
                <a:latin typeface="Source Sans Pro" panose="020B0604020202020204" charset="0"/>
              </a:rPr>
              <a:t>Por la UNIDAD BÁSICA DE EXPLICACIÓN: Importancia de las VARIABLES/EXTRACCIÓN DE REGLAS.</a:t>
            </a:r>
          </a:p>
          <a:p>
            <a:pPr marL="457200" lvl="1"/>
            <a:endParaRPr lang="es-ES" sz="2400" b="1" dirty="0"/>
          </a:p>
        </p:txBody>
      </p:sp>
    </p:spTree>
    <p:extLst>
      <p:ext uri="{BB962C8B-B14F-4D97-AF65-F5344CB8AC3E}">
        <p14:creationId xmlns:p14="http://schemas.microsoft.com/office/powerpoint/2010/main" val="3148371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XAI</a:t>
            </a:r>
            <a:r>
              <a:rPr lang="es-ES" dirty="0" smtClean="0"/>
              <a:t>: TÉCNICAS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3412FF2-3373-ADBD-A27A-598B1D5E3862}"/>
              </a:ext>
            </a:extLst>
          </p:cNvPr>
          <p:cNvSpPr txBox="1"/>
          <p:nvPr/>
        </p:nvSpPr>
        <p:spPr>
          <a:xfrm>
            <a:off x="798979" y="1924589"/>
            <a:ext cx="75499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s-ES" sz="2400" b="1" u="sng" dirty="0">
                <a:latin typeface="Source Sans Pro" panose="020B0604020202020204" charset="0"/>
              </a:rPr>
              <a:t>LIME</a:t>
            </a:r>
            <a:r>
              <a:rPr lang="es-ES" sz="2400" dirty="0">
                <a:latin typeface="Source Sans Pro" panose="020B0604020202020204" charset="0"/>
              </a:rPr>
              <a:t>: técnica de interpretación </a:t>
            </a:r>
            <a:r>
              <a:rPr lang="es-ES" sz="2400" b="1" dirty="0">
                <a:latin typeface="Source Sans Pro" panose="020B0604020202020204" charset="0"/>
              </a:rPr>
              <a:t>local</a:t>
            </a:r>
            <a:r>
              <a:rPr lang="es-ES" sz="2400" dirty="0">
                <a:latin typeface="Source Sans Pro" panose="020B0604020202020204" charset="0"/>
              </a:rPr>
              <a:t> que crea </a:t>
            </a:r>
            <a:r>
              <a:rPr lang="es-ES" sz="2400" b="1" dirty="0">
                <a:latin typeface="Source Sans Pro" panose="020B0604020202020204" charset="0"/>
              </a:rPr>
              <a:t>perturbaciones</a:t>
            </a:r>
            <a:r>
              <a:rPr lang="es-ES" sz="2400" dirty="0">
                <a:latin typeface="Source Sans Pro" panose="020B0604020202020204" charset="0"/>
              </a:rPr>
              <a:t> a los datos de entrada, creando una serie de datos artificiales cambiando los valores de sólo una parte de los atributos originales y observando como modifica la salida del modelo.</a:t>
            </a:r>
            <a:endParaRPr lang="es-ES" sz="2400" dirty="0"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412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XAI</a:t>
            </a:r>
            <a:r>
              <a:rPr lang="es-ES" dirty="0" smtClean="0"/>
              <a:t>: TÉCNICAS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3412FF2-3373-ADBD-A27A-598B1D5E3862}"/>
              </a:ext>
            </a:extLst>
          </p:cNvPr>
          <p:cNvSpPr txBox="1"/>
          <p:nvPr/>
        </p:nvSpPr>
        <p:spPr>
          <a:xfrm>
            <a:off x="1110951" y="1316781"/>
            <a:ext cx="75499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s-ES" sz="2400" b="1" u="sng" dirty="0" err="1">
                <a:latin typeface="Source Sans Pro" panose="020B0604020202020204" charset="0"/>
              </a:rPr>
              <a:t>SHAP</a:t>
            </a:r>
            <a:r>
              <a:rPr lang="es-ES" sz="2400" dirty="0">
                <a:latin typeface="Source Sans Pro" panose="020B0604020202020204" charset="0"/>
              </a:rPr>
              <a:t>:  Es usado para explicar la importancia de cada variable en predicciones individuales. Calcula los valores </a:t>
            </a:r>
            <a:r>
              <a:rPr lang="es-ES" sz="2400" dirty="0" err="1">
                <a:latin typeface="Source Sans Pro" panose="020B0604020202020204" charset="0"/>
              </a:rPr>
              <a:t>Shapley</a:t>
            </a:r>
            <a:r>
              <a:rPr lang="es-ES" sz="2400" dirty="0">
                <a:latin typeface="Source Sans Pro" panose="020B0604020202020204" charset="0"/>
              </a:rPr>
              <a:t> (que corresponden a la contribución real de cada variable en la predicción del modelo). Tiene un gran coste computacional.</a:t>
            </a:r>
            <a:endParaRPr lang="es-ES" sz="2400" dirty="0"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329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XAI</a:t>
            </a:r>
            <a:r>
              <a:rPr lang="es-ES" dirty="0" smtClean="0"/>
              <a:t>: TÉCNICAS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3412FF2-3373-ADBD-A27A-598B1D5E3862}"/>
              </a:ext>
            </a:extLst>
          </p:cNvPr>
          <p:cNvSpPr txBox="1"/>
          <p:nvPr/>
        </p:nvSpPr>
        <p:spPr>
          <a:xfrm>
            <a:off x="1110951" y="1316781"/>
            <a:ext cx="75499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s-ES" sz="2400" b="1" u="sng" dirty="0" err="1">
                <a:latin typeface="Source Sans Pro" panose="020B0604020202020204" charset="0"/>
              </a:rPr>
              <a:t>CONTRAFACTUALES</a:t>
            </a:r>
            <a:r>
              <a:rPr lang="es-ES" sz="2400" dirty="0">
                <a:latin typeface="Source Sans Pro" panose="020B0604020202020204" charset="0"/>
              </a:rPr>
              <a:t>: Los </a:t>
            </a:r>
            <a:r>
              <a:rPr lang="es-ES" sz="2400" dirty="0" err="1">
                <a:latin typeface="Source Sans Pro" panose="020B0604020202020204" charset="0"/>
              </a:rPr>
              <a:t>contrafactuales</a:t>
            </a:r>
            <a:r>
              <a:rPr lang="es-ES" sz="2400" dirty="0">
                <a:latin typeface="Source Sans Pro" panose="020B0604020202020204" charset="0"/>
              </a:rPr>
              <a:t> son escenarios hipotéticos o situaciones alternativas que ilustran cómo podrían haber sido los resultados si un evento o intervención específica no hubiera tenido lugar. Se emplean estudios observacionales y algoritmos de análisis causal para identificar y evaluar los </a:t>
            </a:r>
            <a:r>
              <a:rPr lang="es-ES" sz="2400" dirty="0" err="1">
                <a:latin typeface="Source Sans Pro" panose="020B0604020202020204" charset="0"/>
              </a:rPr>
              <a:t>contrafactuales</a:t>
            </a:r>
            <a:r>
              <a:rPr lang="es-ES" sz="2400" dirty="0" smtClean="0">
                <a:latin typeface="Source Sans Pro" panose="020B0604020202020204" charset="0"/>
              </a:rPr>
              <a:t>.</a:t>
            </a:r>
            <a:endParaRPr lang="es-ES" sz="2400" dirty="0"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197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XAI</a:t>
            </a:r>
            <a:r>
              <a:rPr lang="es-ES" dirty="0" smtClean="0"/>
              <a:t>: TÉCNICAS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3412FF2-3373-ADBD-A27A-598B1D5E3862}"/>
              </a:ext>
            </a:extLst>
          </p:cNvPr>
          <p:cNvSpPr txBox="1"/>
          <p:nvPr/>
        </p:nvSpPr>
        <p:spPr>
          <a:xfrm>
            <a:off x="772085" y="1854664"/>
            <a:ext cx="75499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s-ES" sz="2400" b="1" dirty="0" err="1">
                <a:latin typeface="Source Sans Pro" panose="020B0604020202020204" charset="0"/>
              </a:rPr>
              <a:t>Diverse</a:t>
            </a:r>
            <a:r>
              <a:rPr lang="es-ES" sz="2400" b="1" dirty="0">
                <a:latin typeface="Source Sans Pro" panose="020B0604020202020204" charset="0"/>
              </a:rPr>
              <a:t> </a:t>
            </a:r>
            <a:r>
              <a:rPr lang="es-ES" sz="2400" b="1" dirty="0" err="1">
                <a:latin typeface="Source Sans Pro" panose="020B0604020202020204" charset="0"/>
              </a:rPr>
              <a:t>Counterfactual</a:t>
            </a:r>
            <a:r>
              <a:rPr lang="es-ES" sz="2400" b="1" dirty="0">
                <a:latin typeface="Source Sans Pro" panose="020B0604020202020204" charset="0"/>
              </a:rPr>
              <a:t> </a:t>
            </a:r>
            <a:r>
              <a:rPr lang="es-ES" sz="2400" b="1" dirty="0" err="1">
                <a:latin typeface="Source Sans Pro" panose="020B0604020202020204" charset="0"/>
              </a:rPr>
              <a:t>Explanations</a:t>
            </a:r>
            <a:r>
              <a:rPr lang="es-ES" sz="2400" b="1" dirty="0">
                <a:latin typeface="Source Sans Pro" panose="020B0604020202020204" charset="0"/>
              </a:rPr>
              <a:t> </a:t>
            </a:r>
            <a:r>
              <a:rPr lang="es-ES" sz="2400" b="1" dirty="0" err="1">
                <a:latin typeface="Source Sans Pro" panose="020B0604020202020204" charset="0"/>
              </a:rPr>
              <a:t>DiCE</a:t>
            </a:r>
            <a:r>
              <a:rPr lang="es-ES" sz="2400" b="1" dirty="0">
                <a:latin typeface="Source Sans Pro" panose="020B0604020202020204" charset="0"/>
              </a:rPr>
              <a:t>, </a:t>
            </a:r>
            <a:r>
              <a:rPr lang="es-ES" sz="2400" dirty="0">
                <a:latin typeface="Source Sans Pro" panose="020B0604020202020204" charset="0"/>
              </a:rPr>
              <a:t>es una herramienta de </a:t>
            </a:r>
            <a:r>
              <a:rPr lang="es-ES" sz="2400" dirty="0" err="1">
                <a:latin typeface="Source Sans Pro" panose="020B0604020202020204" charset="0"/>
              </a:rPr>
              <a:t>explicabilidad</a:t>
            </a:r>
            <a:r>
              <a:rPr lang="es-ES" sz="2400" dirty="0">
                <a:latin typeface="Source Sans Pro" panose="020B0604020202020204" charset="0"/>
              </a:rPr>
              <a:t> post-hoc diseñada para generar explicaciones </a:t>
            </a:r>
            <a:r>
              <a:rPr lang="es-ES" sz="2400" dirty="0" err="1">
                <a:latin typeface="Source Sans Pro" panose="020B0604020202020204" charset="0"/>
              </a:rPr>
              <a:t>contrafactuales</a:t>
            </a:r>
            <a:r>
              <a:rPr lang="es-ES" sz="2400" dirty="0">
                <a:latin typeface="Source Sans Pro" panose="020B0604020202020204" charset="0"/>
              </a:rPr>
              <a:t> diversas para modelos de aprendizaje automático.</a:t>
            </a:r>
            <a:endParaRPr lang="es-ES" sz="2400" dirty="0"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322183"/>
      </p:ext>
    </p:extLst>
  </p:cSld>
  <p:clrMapOvr>
    <a:masterClrMapping/>
  </p:clrMapOvr>
</p:sld>
</file>

<file path=ppt/theme/theme1.xml><?xml version="1.0" encoding="utf-8"?>
<a:theme xmlns:a="http://schemas.openxmlformats.org/drawingml/2006/main" name="Cerimon template">
  <a:themeElements>
    <a:clrScheme name="Custom 347">
      <a:dk1>
        <a:srgbClr val="415665"/>
      </a:dk1>
      <a:lt1>
        <a:srgbClr val="FFFFFF"/>
      </a:lt1>
      <a:dk2>
        <a:srgbClr val="0DB7C4"/>
      </a:dk2>
      <a:lt2>
        <a:srgbClr val="F6F6F6"/>
      </a:lt2>
      <a:accent1>
        <a:srgbClr val="0A95B0"/>
      </a:accent1>
      <a:accent2>
        <a:srgbClr val="A7E5E9"/>
      </a:accent2>
      <a:accent3>
        <a:srgbClr val="A9D039"/>
      </a:accent3>
      <a:accent4>
        <a:srgbClr val="FFBC00"/>
      </a:accent4>
      <a:accent5>
        <a:srgbClr val="F24745"/>
      </a:accent5>
      <a:accent6>
        <a:srgbClr val="B3B3B3"/>
      </a:accent6>
      <a:hlink>
        <a:srgbClr val="0DB7C4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500</Words>
  <Application>Microsoft Office PowerPoint</Application>
  <PresentationFormat>Presentación en pantalla (16:9)</PresentationFormat>
  <Paragraphs>48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Lato</vt:lpstr>
      <vt:lpstr>Wingdings</vt:lpstr>
      <vt:lpstr>Arial</vt:lpstr>
      <vt:lpstr>Dosis</vt:lpstr>
      <vt:lpstr>Source Sans Pro</vt:lpstr>
      <vt:lpstr>Montserrat</vt:lpstr>
      <vt:lpstr>Cerimon template</vt:lpstr>
      <vt:lpstr>EXPLICABILIDAD (XAI)</vt:lpstr>
      <vt:lpstr>Tema 5</vt:lpstr>
      <vt:lpstr>CONCEPTO XAI</vt:lpstr>
      <vt:lpstr>CONCEPTO XAI</vt:lpstr>
      <vt:lpstr>XAI</vt:lpstr>
      <vt:lpstr>EXPLICABILIDAD (XAI) ¿POR QUÉ?</vt:lpstr>
      <vt:lpstr>EXPLICABILIDAD (XAI) ¿POR QUÉ?</vt:lpstr>
      <vt:lpstr>Tema 5</vt:lpstr>
      <vt:lpstr>IA EXPLICABLE</vt:lpstr>
      <vt:lpstr>IA EXPLICABLE</vt:lpstr>
      <vt:lpstr>XAI: TÉCNICAS</vt:lpstr>
      <vt:lpstr>XAI: TÉCNICAS</vt:lpstr>
      <vt:lpstr>XAI: TÉCNICAS</vt:lpstr>
      <vt:lpstr>XAI: TÉCNICAS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Malicious actors profiling and detection in Online Social Networks through Artificial Intelligence</dc:title>
  <dc:creator>Aurea</dc:creator>
  <cp:lastModifiedBy>AUREA MARIA ANGUERA DE SOJO HERNANDEZ</cp:lastModifiedBy>
  <cp:revision>39</cp:revision>
  <dcterms:modified xsi:type="dcterms:W3CDTF">2025-04-09T15:47:20Z</dcterms:modified>
</cp:coreProperties>
</file>