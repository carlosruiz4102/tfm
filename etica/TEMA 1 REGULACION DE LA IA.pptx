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39"/>
  </p:notesMasterIdLst>
  <p:sldIdLst>
    <p:sldId id="297" r:id="rId2"/>
    <p:sldId id="259" r:id="rId3"/>
    <p:sldId id="298" r:id="rId4"/>
    <p:sldId id="299" r:id="rId5"/>
    <p:sldId id="260" r:id="rId6"/>
    <p:sldId id="300" r:id="rId7"/>
    <p:sldId id="261" r:id="rId8"/>
    <p:sldId id="262" r:id="rId9"/>
    <p:sldId id="258" r:id="rId10"/>
    <p:sldId id="301" r:id="rId11"/>
    <p:sldId id="302" r:id="rId12"/>
    <p:sldId id="257" r:id="rId13"/>
    <p:sldId id="263" r:id="rId14"/>
    <p:sldId id="303" r:id="rId15"/>
    <p:sldId id="264" r:id="rId16"/>
    <p:sldId id="304" r:id="rId17"/>
    <p:sldId id="265" r:id="rId18"/>
    <p:sldId id="305" r:id="rId19"/>
    <p:sldId id="306" r:id="rId20"/>
    <p:sldId id="307" r:id="rId21"/>
    <p:sldId id="308" r:id="rId22"/>
    <p:sldId id="313" r:id="rId23"/>
    <p:sldId id="309" r:id="rId24"/>
    <p:sldId id="310" r:id="rId25"/>
    <p:sldId id="311" r:id="rId26"/>
    <p:sldId id="312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</p:sldIdLst>
  <p:sldSz cx="9144000" cy="5143500" type="screen16x9"/>
  <p:notesSz cx="6858000" cy="9144000"/>
  <p:embeddedFontLst>
    <p:embeddedFont>
      <p:font typeface="Dosis" panose="020B0604020202020204" charset="0"/>
      <p:regular r:id="rId40"/>
      <p:bold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Montserrat" panose="020B0604020202020204" charset="0"/>
      <p:regular r:id="rId46"/>
      <p:bold r:id="rId47"/>
      <p:italic r:id="rId48"/>
      <p:boldItalic r:id="rId49"/>
    </p:embeddedFont>
    <p:embeddedFont>
      <p:font typeface="ＭＳ Ｐゴシック" panose="020B0600070205080204" pitchFamily="34" charset="-128"/>
      <p:regular r:id="rId50"/>
    </p:embeddedFont>
    <p:embeddedFont>
      <p:font typeface="Source Sans Pro" panose="020B0604020202020204" charset="0"/>
      <p:regular r:id="rId51"/>
      <p:bold r:id="rId52"/>
      <p:italic r:id="rId53"/>
      <p:boldItalic r:id="rId54"/>
    </p:embeddedFont>
    <p:embeddedFont>
      <p:font typeface="Lato" panose="020B060402020202020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96514-1AA1-4EE5-A447-7E556EC08B63}">
  <a:tblStyle styleId="{B3896514-1AA1-4EE5-A447-7E556EC08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E65728-0D21-4A9D-A831-D487195EC5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0" autoAdjust="0"/>
    <p:restoredTop sz="94694"/>
  </p:normalViewPr>
  <p:slideViewPr>
    <p:cSldViewPr snapToGrid="0">
      <p:cViewPr varScale="1">
        <p:scale>
          <a:sx n="83" d="100"/>
          <a:sy n="83" d="100"/>
        </p:scale>
        <p:origin x="39" y="1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62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665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682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750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4358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6448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581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690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0174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80866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9543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977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834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1293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6894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0661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1666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4955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1161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2856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4025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2691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1552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15265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8469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8017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89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-150" y="4156675"/>
            <a:ext cx="9144000" cy="2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150" y="0"/>
            <a:ext cx="9144000" cy="41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525225"/>
            <a:ext cx="5309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rot="10800000">
            <a:off x="-150" y="3769825"/>
            <a:ext cx="9144000" cy="687600"/>
          </a:xfrm>
          <a:prstGeom prst="rect">
            <a:avLst/>
          </a:prstGeom>
          <a:solidFill>
            <a:srgbClr val="000000">
              <a:alpha val="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 flipH="1">
            <a:off x="-150" y="0"/>
            <a:ext cx="9144000" cy="376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616475" y="0"/>
            <a:ext cx="5910900" cy="3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▹"/>
              <a:defRPr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▸"/>
              <a:defRPr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⬩"/>
              <a:defRPr i="1">
                <a:solidFill>
                  <a:srgbClr val="FFFFFF"/>
                </a:solidFill>
              </a:defRPr>
            </a:lvl3pPr>
            <a:lvl4pPr marL="1828800" lvl="3" indent="-3429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⬞"/>
              <a:defRPr i="1">
                <a:solidFill>
                  <a:srgbClr val="FFFFFF"/>
                </a:solidFill>
              </a:defRPr>
            </a:lvl4pPr>
            <a:lvl5pPr marL="2286000" lvl="4" indent="-3429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i="1">
                <a:solidFill>
                  <a:srgbClr val="FFFFFF"/>
                </a:solidFill>
              </a:defRPr>
            </a:lvl5pPr>
            <a:lvl6pPr marL="2743200" lvl="5" indent="-3429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i="1">
                <a:solidFill>
                  <a:srgbClr val="FFFFFF"/>
                </a:solidFill>
              </a:defRPr>
            </a:lvl6pPr>
            <a:lvl7pPr marL="3200400" lvl="6" indent="-3429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i="1">
                <a:solidFill>
                  <a:srgbClr val="FFFFFF"/>
                </a:solidFill>
              </a:defRPr>
            </a:lvl7pPr>
            <a:lvl8pPr marL="3657600" lvl="7" indent="-3429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 i="1">
                <a:solidFill>
                  <a:srgbClr val="FFFFFF"/>
                </a:solidFill>
              </a:defRPr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  <a:defRPr i="1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4"/>
          <p:cNvSpPr txBox="1"/>
          <p:nvPr/>
        </p:nvSpPr>
        <p:spPr>
          <a:xfrm>
            <a:off x="3593400" y="3670520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dk2"/>
                </a:solidFill>
              </a:rPr>
              <a:t>”</a:t>
            </a:r>
            <a:endParaRPr sz="7200" b="1">
              <a:solidFill>
                <a:schemeClr val="dk2"/>
              </a:solidFill>
            </a:endParaRP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44425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818123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7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44425" y="1548525"/>
            <a:ext cx="19188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⬩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⬞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2861613" y="1548525"/>
            <a:ext cx="19188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⬩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⬞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878801" y="1548525"/>
            <a:ext cx="19188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⬩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⬞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1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3" name="Imagen 12" descr="Texto&#10;&#10;Descripción generada automáticamente con confianza baja">
            <a:extLst>
              <a:ext uri="{FF2B5EF4-FFF2-40B4-BE49-F238E27FC236}">
                <a16:creationId xmlns:a16="http://schemas.microsoft.com/office/drawing/2014/main" id="{12E5CF5E-C549-0442-C138-7119D0FC519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386738" y="69199"/>
            <a:ext cx="1650258" cy="60662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epd.es/guias/gestion-riesgo-y-evaluacion-impacto-en-tratamientos-datos-personales.pdf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791300" y="1513739"/>
            <a:ext cx="4677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 smtClean="0">
                <a:latin typeface="Montserrat"/>
                <a:ea typeface="Montserrat"/>
                <a:cs typeface="Montserrat"/>
                <a:sym typeface="Montserrat"/>
              </a:rPr>
              <a:t>REGULACIÓN DE LA INTELIGENCIA ARTIFICIAL</a:t>
            </a:r>
            <a:endParaRPr sz="36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695388" y="3062825"/>
            <a:ext cx="4905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Tema 1</a:t>
            </a:r>
            <a:endParaRPr sz="1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4150"/>
            <a:ext cx="1478604" cy="6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96EB558-2C22-596B-87F3-25680CCB5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53" y="480064"/>
            <a:ext cx="3201222" cy="3201222"/>
          </a:xfrm>
          <a:prstGeom prst="rect">
            <a:avLst/>
          </a:prstGeom>
        </p:spPr>
      </p:pic>
      <p:pic>
        <p:nvPicPr>
          <p:cNvPr id="20" name="Imagen 19" descr="Texto&#10;&#10;Descripción generada automáticamente con confianza baja">
            <a:extLst>
              <a:ext uri="{FF2B5EF4-FFF2-40B4-BE49-F238E27FC236}">
                <a16:creationId xmlns:a16="http://schemas.microsoft.com/office/drawing/2014/main" id="{33E645A4-D3CF-8E92-8C71-2BE57102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525" y="4456937"/>
            <a:ext cx="1793681" cy="65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1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REGULACIÓN: CONTEXTO EUROPEO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ELEMENTOS CLAVE PARA LA UE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Marcador de texto 5"/>
          <p:cNvSpPr txBox="1">
            <a:spLocks noGrp="1"/>
          </p:cNvSpPr>
          <p:nvPr>
            <p:ph type="body" idx="1"/>
          </p:nvPr>
        </p:nvSpPr>
        <p:spPr>
          <a:xfrm>
            <a:off x="844424" y="1538075"/>
            <a:ext cx="7936237" cy="2923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Lato" panose="020F0502020204030203"/>
              </a:rPr>
              <a:t>Generar un </a:t>
            </a:r>
            <a:r>
              <a:rPr lang="es-ES" sz="2400" b="1" dirty="0">
                <a:latin typeface="Lato" panose="020F0502020204030203"/>
              </a:rPr>
              <a:t>ecosistema de confianza </a:t>
            </a:r>
            <a:r>
              <a:rPr lang="es-ES" sz="2400" dirty="0">
                <a:latin typeface="Lato" panose="020F0502020204030203"/>
              </a:rPr>
              <a:t>basado en:</a:t>
            </a:r>
          </a:p>
          <a:p>
            <a:endParaRPr lang="es-ES" sz="2400" dirty="0">
              <a:latin typeface="Lato" panose="020F0502020204030203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i="1" dirty="0">
                <a:latin typeface="Lato" panose="020F0502020204030203"/>
              </a:rPr>
              <a:t>Cumplimiento de las normas de la UE </a:t>
            </a:r>
            <a:r>
              <a:rPr lang="es-ES" sz="2400" dirty="0">
                <a:latin typeface="Lato" panose="020F0502020204030203"/>
              </a:rPr>
              <a:t>-especial atención a todo lo relacionado con derechos fundamentales de las personas-.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b="1" i="1" dirty="0">
                <a:latin typeface="Lato" panose="020F0502020204030203"/>
              </a:rPr>
              <a:t>Seguridad jurídica </a:t>
            </a:r>
            <a:r>
              <a:rPr lang="es-ES" sz="2400" dirty="0">
                <a:latin typeface="Lato" panose="020F0502020204030203"/>
              </a:rPr>
              <a:t>para empresas y organismos públicos</a:t>
            </a:r>
          </a:p>
        </p:txBody>
      </p:sp>
    </p:spTree>
    <p:extLst>
      <p:ext uri="{BB962C8B-B14F-4D97-AF65-F5344CB8AC3E}">
        <p14:creationId xmlns:p14="http://schemas.microsoft.com/office/powerpoint/2010/main" val="8093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EVOLUCIÓN DE LA REGULACIÓN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56" y="1308972"/>
            <a:ext cx="7864522" cy="366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u="sng" dirty="0" smtClean="0"/>
              <a:t>Requisitos clave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Acción y supervisión humana</a:t>
            </a:r>
          </a:p>
          <a:p>
            <a:pPr lvl="1"/>
            <a:r>
              <a:rPr lang="es-ES" dirty="0" smtClean="0"/>
              <a:t>Solidez técnica y seguridad</a:t>
            </a:r>
          </a:p>
          <a:p>
            <a:pPr lvl="1"/>
            <a:r>
              <a:rPr lang="es-ES" dirty="0" smtClean="0"/>
              <a:t>Privacidad y PD</a:t>
            </a:r>
          </a:p>
          <a:p>
            <a:pPr lvl="1"/>
            <a:r>
              <a:rPr lang="es-ES" dirty="0" smtClean="0"/>
              <a:t>Transparencia</a:t>
            </a:r>
          </a:p>
          <a:p>
            <a:pPr lvl="1"/>
            <a:r>
              <a:rPr lang="es-ES" dirty="0" smtClean="0"/>
              <a:t>Diversidad, no discriminación y equidad</a:t>
            </a:r>
          </a:p>
          <a:p>
            <a:pPr lvl="1"/>
            <a:r>
              <a:rPr lang="es-ES" dirty="0" smtClean="0"/>
              <a:t>Bienestar social y ambiental</a:t>
            </a:r>
          </a:p>
          <a:p>
            <a:pPr lvl="1"/>
            <a:r>
              <a:rPr lang="es-ES" dirty="0" smtClean="0"/>
              <a:t>Rendición de cuentas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1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REGLAMENTO DE INTELIGENCIA ARTIFICIAL (UE)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867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REGLAMENTO DE IA</a:t>
            </a: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844424" y="1538075"/>
            <a:ext cx="6948103" cy="2959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▹"/>
            </a:pPr>
            <a:r>
              <a:rPr lang="es-ES" dirty="0" smtClean="0"/>
              <a:t>Regula sistemas  de </a:t>
            </a:r>
            <a:r>
              <a:rPr lang="es-ES" dirty="0" err="1" smtClean="0"/>
              <a:t>IA</a:t>
            </a:r>
            <a:r>
              <a:rPr lang="es-ES" dirty="0" smtClean="0"/>
              <a:t> de alto riesgo</a:t>
            </a:r>
            <a:endParaRPr dirty="0"/>
          </a:p>
          <a:p>
            <a:pPr lvl="0">
              <a:spcBef>
                <a:spcPts val="0"/>
              </a:spcBef>
            </a:pPr>
            <a:r>
              <a:rPr lang="es-ES" dirty="0" smtClean="0"/>
              <a:t>Establece reglas de transparencia armonizadas </a:t>
            </a:r>
            <a:r>
              <a:rPr lang="es-ES" dirty="0"/>
              <a:t>para sistemas dirigidos a interactuar con personas físicas para generar o manipular imágenes, sonidos o contenidos de video.</a:t>
            </a:r>
          </a:p>
          <a:p>
            <a:pPr lvl="0">
              <a:spcBef>
                <a:spcPts val="0"/>
              </a:spcBef>
            </a:pPr>
            <a:r>
              <a:rPr lang="es-ES" dirty="0"/>
              <a:t>Ámbito de aplicación subjetivo y territorial amplio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ctrTitle" idx="4294967295"/>
          </p:nvPr>
        </p:nvSpPr>
        <p:spPr>
          <a:xfrm>
            <a:off x="844425" y="1888150"/>
            <a:ext cx="5178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SISTEMA IA</a:t>
            </a:r>
            <a:endParaRPr sz="7200" dirty="0"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DATOS e INFORMACIÓN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INFERENCIA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ESTRATEGIAS de APRENDIZAJE</a:t>
            </a:r>
            <a:endParaRPr dirty="0"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6134870" y="1247078"/>
            <a:ext cx="320378" cy="320378"/>
            <a:chOff x="1278900" y="2333250"/>
            <a:chExt cx="381175" cy="381175"/>
          </a:xfrm>
        </p:grpSpPr>
        <p:sp>
          <p:nvSpPr>
            <p:cNvPr id="144" name="Google Shape;144;p18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errar llave 1"/>
          <p:cNvSpPr/>
          <p:nvPr/>
        </p:nvSpPr>
        <p:spPr>
          <a:xfrm>
            <a:off x="5865962" y="2904226"/>
            <a:ext cx="382018" cy="1978325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342117" y="3030551"/>
            <a:ext cx="26097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 smtClean="0">
                <a:latin typeface="Source Sans Pro" panose="020B0604020202020204" charset="0"/>
              </a:rPr>
              <a:t>INFORMACIÓN DE SALIDA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 smtClean="0">
                <a:latin typeface="Source Sans Pro" panose="020B0604020202020204" charset="0"/>
              </a:rPr>
              <a:t>INFLUENCIA EN ENTORNO</a:t>
            </a:r>
            <a:endParaRPr lang="es-ES" sz="2600" dirty="0">
              <a:latin typeface="Source Sans Pro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CLASIFICACIÓN SISTEMAS </a:t>
            </a:r>
            <a:r>
              <a:rPr lang="es-ES" dirty="0" err="1" smtClean="0"/>
              <a:t>IA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94" y="1211239"/>
            <a:ext cx="6185772" cy="39322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INACEPTABLES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11" y="1687450"/>
            <a:ext cx="7656303" cy="261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2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ALTO RIESGO</a:t>
            </a:r>
            <a:endParaRPr lang="es-ES" dirty="0"/>
          </a:p>
        </p:txBody>
      </p:sp>
      <p:graphicFrame>
        <p:nvGraphicFramePr>
          <p:cNvPr id="5" name="Tabla 6">
            <a:extLst>
              <a:ext uri="{FF2B5EF4-FFF2-40B4-BE49-F238E27FC236}">
                <a16:creationId xmlns:a16="http://schemas.microsoft.com/office/drawing/2014/main" id="{0B0FB9D5-915F-4EB6-9261-7F8C40609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853292"/>
              </p:ext>
            </p:extLst>
          </p:nvPr>
        </p:nvGraphicFramePr>
        <p:xfrm>
          <a:off x="1103217" y="1140000"/>
          <a:ext cx="7971771" cy="3883348"/>
        </p:xfrm>
        <a:graphic>
          <a:graphicData uri="http://schemas.openxmlformats.org/drawingml/2006/table">
            <a:tbl>
              <a:tblPr firstRow="1" bandRow="1"/>
              <a:tblGrid>
                <a:gridCol w="3999832">
                  <a:extLst>
                    <a:ext uri="{9D8B030D-6E8A-4147-A177-3AD203B41FA5}">
                      <a16:colId xmlns:a16="http://schemas.microsoft.com/office/drawing/2014/main" val="3515743523"/>
                    </a:ext>
                  </a:extLst>
                </a:gridCol>
                <a:gridCol w="3971939">
                  <a:extLst>
                    <a:ext uri="{9D8B030D-6E8A-4147-A177-3AD203B41FA5}">
                      <a16:colId xmlns:a16="http://schemas.microsoft.com/office/drawing/2014/main" val="3066888392"/>
                    </a:ext>
                  </a:extLst>
                </a:gridCol>
              </a:tblGrid>
              <a:tr h="6436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INFRAESTRUCTURAS CRÍTICAS 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SERVICIOS PÚBLICOS Y PRIVADOS ESENCIALES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718775"/>
                  </a:ext>
                </a:extLst>
              </a:tr>
              <a:tr h="926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EDUCACIÓN Y FORMACIÓN PROFESIONALES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APLICACIÓN DE LEYES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12679"/>
                  </a:ext>
                </a:extLst>
              </a:tr>
              <a:tr h="926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BIOMETRÍA REMOTA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GESTIÓN DE LA MIGRACIÓN, ASILO Y CONTROL FRONTERIZO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723151"/>
                  </a:ext>
                </a:extLst>
              </a:tr>
              <a:tr h="926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EMPLEO, GESTIÓN DE TRABAJADORES Y ACCESO AL AUTOEMPLEO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s-ES" sz="2200" b="0" kern="1200" dirty="0">
                          <a:solidFill>
                            <a:schemeClr val="dk1"/>
                          </a:solidFill>
                          <a:latin typeface="Lato" panose="020F0502020204030203"/>
                          <a:ea typeface="+mn-ea"/>
                          <a:cs typeface="+mn-cs"/>
                        </a:rPr>
                        <a:t>JUSTICIA Y PROCESOS DEMOCRÁTICOS</a:t>
                      </a:r>
                    </a:p>
                  </a:txBody>
                  <a:tcPr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45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45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ALTO RIESGO: REQUISITOS</a:t>
            </a:r>
            <a:endParaRPr dirty="0"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2"/>
          </p:nvPr>
        </p:nvSpPr>
        <p:spPr>
          <a:xfrm>
            <a:off x="1685026" y="1612641"/>
            <a:ext cx="5796951" cy="28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s-ES" b="1" dirty="0" smtClean="0"/>
              <a:t>CALIDAD DE LOS CONJUNTOS DE DATOS</a:t>
            </a:r>
          </a:p>
          <a:p>
            <a:pPr marL="285750" indent="-285750"/>
            <a:r>
              <a:rPr lang="es-ES" b="1" dirty="0" smtClean="0"/>
              <a:t>DOCUMENTACIÓN TÉCNICA Y REGISTRO</a:t>
            </a:r>
          </a:p>
          <a:p>
            <a:pPr marL="285750" indent="-285750"/>
            <a:r>
              <a:rPr lang="es-ES" b="1" dirty="0" smtClean="0"/>
              <a:t>TRANSPARENCIA Y DIVULGACIÓN DE INFORMACIÓN A LOS USUARIOS</a:t>
            </a:r>
          </a:p>
          <a:p>
            <a:pPr marL="285750" indent="-285750"/>
            <a:r>
              <a:rPr lang="es-ES" b="1" dirty="0" smtClean="0"/>
              <a:t>EVALUACIÓN DE IMPACTO PD</a:t>
            </a:r>
          </a:p>
          <a:p>
            <a:pPr marL="285750" indent="-285750"/>
            <a:r>
              <a:rPr lang="es-ES" b="1" dirty="0" smtClean="0"/>
              <a:t>SUPERVISIÓN HUMANA</a:t>
            </a:r>
          </a:p>
          <a:p>
            <a:pPr marL="285750" indent="-285750"/>
            <a:r>
              <a:rPr lang="es-ES" b="1" dirty="0" smtClean="0"/>
              <a:t>SOLIDEZ, PRECISIÓN Y CIBERSEGURIDAD</a:t>
            </a:r>
            <a:endParaRPr lang="es-ES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300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xfrm>
            <a:off x="844425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b="1" dirty="0" err="1" smtClean="0"/>
              <a:t>GPAIS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 smtClean="0"/>
              <a:t>Funciones</a:t>
            </a:r>
            <a:r>
              <a:rPr lang="en" dirty="0" smtClean="0"/>
              <a:t> de aplicación general.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 smtClean="0"/>
              <a:t>P</a:t>
            </a:r>
            <a:r>
              <a:rPr lang="en" dirty="0" smtClean="0"/>
              <a:t>luralidad de contexto.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 smtClean="0"/>
              <a:t>I</a:t>
            </a:r>
            <a:r>
              <a:rPr lang="en" dirty="0" smtClean="0"/>
              <a:t>ntegrarse en otros sistemas.</a:t>
            </a:r>
            <a:endParaRPr dirty="0"/>
          </a:p>
        </p:txBody>
      </p:sp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SISTEMAS IA DE USO GENERAL</a:t>
            </a:r>
            <a:endParaRPr dirty="0"/>
          </a:p>
        </p:txBody>
      </p:sp>
      <p:sp>
        <p:nvSpPr>
          <p:cNvPr id="166" name="Google Shape;166;p19"/>
          <p:cNvSpPr txBox="1">
            <a:spLocks noGrp="1"/>
          </p:cNvSpPr>
          <p:nvPr>
            <p:ph type="body" idx="2"/>
          </p:nvPr>
        </p:nvSpPr>
        <p:spPr>
          <a:xfrm>
            <a:off x="4813036" y="1533012"/>
            <a:ext cx="3462572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b="1" dirty="0" smtClean="0"/>
              <a:t>REQUISITOS</a:t>
            </a:r>
            <a:endParaRPr b="1" dirty="0"/>
          </a:p>
          <a:p>
            <a:pPr marL="342900" indent="-342900"/>
            <a:r>
              <a:rPr lang="en" dirty="0" smtClean="0"/>
              <a:t>TRANSPARENCIA</a:t>
            </a:r>
          </a:p>
          <a:p>
            <a:pPr marL="342900" indent="-342900"/>
            <a:r>
              <a:rPr lang="en" dirty="0" smtClean="0"/>
              <a:t>RESPETO PI</a:t>
            </a:r>
          </a:p>
          <a:p>
            <a:pPr marL="342900" indent="-342900"/>
            <a:r>
              <a:rPr lang="en" dirty="0" smtClean="0"/>
              <a:t>EVALUACIÓN y mitigación de RIESGOS</a:t>
            </a:r>
          </a:p>
          <a:p>
            <a:pPr marL="342900" indent="-342900"/>
            <a:r>
              <a:rPr lang="en" dirty="0" smtClean="0"/>
              <a:t>NOTIFICACIÓN INCIDENTES.</a:t>
            </a:r>
          </a:p>
          <a:p>
            <a:pPr marL="342900" indent="-342900"/>
            <a:r>
              <a:rPr lang="en" dirty="0" smtClean="0"/>
              <a:t>PRUEBAS Y EVALUACIONES</a:t>
            </a:r>
            <a:endParaRPr dirty="0"/>
          </a:p>
        </p:txBody>
      </p:sp>
      <p:sp>
        <p:nvSpPr>
          <p:cNvPr id="167" name="Google Shape;167;p19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1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PRIVACIDAD Y PROTECCIÓN DE DATOS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7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REGULACIÓN DE LA PD</a:t>
            </a:r>
            <a:endParaRPr dirty="0"/>
          </a:p>
        </p:txBody>
      </p:sp>
      <p:sp>
        <p:nvSpPr>
          <p:cNvPr id="181" name="Google Shape;181;p20"/>
          <p:cNvSpPr txBox="1">
            <a:spLocks noGrp="1"/>
          </p:cNvSpPr>
          <p:nvPr>
            <p:ph type="body" idx="1"/>
          </p:nvPr>
        </p:nvSpPr>
        <p:spPr>
          <a:xfrm>
            <a:off x="844425" y="1548525"/>
            <a:ext cx="19188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b="1" dirty="0" err="1" smtClean="0"/>
              <a:t>RGPD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 smtClean="0"/>
              <a:t>UE</a:t>
            </a:r>
            <a:r>
              <a:rPr lang="en" dirty="0" smtClean="0"/>
              <a:t>. Aprobado en 2016</a:t>
            </a:r>
            <a:endParaRPr dirty="0"/>
          </a:p>
        </p:txBody>
      </p:sp>
      <p:sp>
        <p:nvSpPr>
          <p:cNvPr id="182" name="Google Shape;182;p20"/>
          <p:cNvSpPr txBox="1">
            <a:spLocks noGrp="1"/>
          </p:cNvSpPr>
          <p:nvPr>
            <p:ph type="body" idx="2"/>
          </p:nvPr>
        </p:nvSpPr>
        <p:spPr>
          <a:xfrm>
            <a:off x="2861613" y="1548525"/>
            <a:ext cx="19188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b="1" dirty="0" err="1" smtClean="0"/>
              <a:t>LOPDyGDD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5-didiembre -20218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20"/>
          <p:cNvSpPr txBox="1">
            <a:spLocks noGrp="1"/>
          </p:cNvSpPr>
          <p:nvPr>
            <p:ph type="body" idx="3"/>
          </p:nvPr>
        </p:nvSpPr>
        <p:spPr>
          <a:xfrm>
            <a:off x="4878801" y="1548525"/>
            <a:ext cx="191880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b="1" dirty="0" smtClean="0"/>
              <a:t>Normativa sectorial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20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</a:t>
            </a:r>
            <a:r>
              <a:rPr lang="en" dirty="0" smtClean="0"/>
              <a:t>QUÉ ES LA PRIVACIDAD?</a:t>
            </a:r>
            <a:endParaRPr dirty="0"/>
          </a:p>
        </p:txBody>
      </p:sp>
      <p:sp>
        <p:nvSpPr>
          <p:cNvPr id="182" name="Google Shape;182;p20"/>
          <p:cNvSpPr txBox="1">
            <a:spLocks noGrp="1"/>
          </p:cNvSpPr>
          <p:nvPr>
            <p:ph type="body" idx="2"/>
          </p:nvPr>
        </p:nvSpPr>
        <p:spPr>
          <a:xfrm>
            <a:off x="1219199" y="1790065"/>
            <a:ext cx="7251940" cy="32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s-ES" sz="2400" b="1" dirty="0"/>
              <a:t>Control que a cada individuo le corresponde sobre la información que personalmente le concierne, sea íntima o no, para impedir que otros puedan conocerla y/o utilizarla de forma que les perjudique</a:t>
            </a:r>
            <a:r>
              <a:rPr lang="es-ES" b="1" dirty="0"/>
              <a:t>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20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3270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¿</a:t>
            </a:r>
            <a:r>
              <a:rPr lang="es-ES" dirty="0" smtClean="0"/>
              <a:t>Qué</a:t>
            </a:r>
            <a:r>
              <a:rPr lang="en" dirty="0" smtClean="0"/>
              <a:t> es un DATO PERSONAL?</a:t>
            </a:r>
            <a:endParaRPr dirty="0"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1057209" y="2224262"/>
            <a:ext cx="3768000" cy="1692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" dirty="0" smtClean="0"/>
              <a:t>IDENTIFICA</a:t>
            </a:r>
          </a:p>
          <a:p>
            <a:pPr marL="0" indent="0">
              <a:buNone/>
            </a:pPr>
            <a:endParaRPr lang="en" dirty="0" smtClean="0"/>
          </a:p>
          <a:p>
            <a:pPr marL="342900" indent="-342900"/>
            <a:r>
              <a:rPr lang="en" dirty="0" smtClean="0"/>
              <a:t>HACE IDENTIFICABLE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41" y="1309768"/>
            <a:ext cx="3403273" cy="34032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DATOS ESPECIALMENTE PROTEGIDOS</a:t>
            </a:r>
            <a:endParaRPr dirty="0"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1051458" y="1184420"/>
            <a:ext cx="3768000" cy="3755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n" dirty="0" smtClean="0"/>
              <a:t>Opiniones políticas</a:t>
            </a:r>
          </a:p>
          <a:p>
            <a:pPr marL="342900" indent="-342900"/>
            <a:r>
              <a:rPr lang="en" dirty="0" smtClean="0"/>
              <a:t>Creencias religiosas</a:t>
            </a:r>
          </a:p>
          <a:p>
            <a:pPr marL="342900" indent="-342900"/>
            <a:r>
              <a:rPr lang="en" dirty="0" smtClean="0"/>
              <a:t>Salud</a:t>
            </a:r>
          </a:p>
          <a:p>
            <a:pPr marL="342900" indent="-342900"/>
            <a:r>
              <a:rPr lang="en" dirty="0" smtClean="0"/>
              <a:t>Creencias filosóficas</a:t>
            </a:r>
          </a:p>
          <a:p>
            <a:pPr marL="342900" indent="-342900"/>
            <a:r>
              <a:rPr lang="en" dirty="0" smtClean="0"/>
              <a:t>Vida sexual</a:t>
            </a:r>
          </a:p>
          <a:p>
            <a:pPr marL="342900" indent="-342900"/>
            <a:r>
              <a:rPr lang="en" dirty="0" smtClean="0"/>
              <a:t>Origen racial o étnico</a:t>
            </a:r>
          </a:p>
          <a:p>
            <a:pPr marL="342900" indent="-342900"/>
            <a:r>
              <a:rPr lang="es-ES" dirty="0" smtClean="0"/>
              <a:t>D</a:t>
            </a:r>
            <a:r>
              <a:rPr lang="en" dirty="0" smtClean="0"/>
              <a:t>atos genéticos</a:t>
            </a:r>
          </a:p>
          <a:p>
            <a:pPr marL="342900" indent="-342900"/>
            <a:r>
              <a:rPr lang="es-ES" dirty="0" smtClean="0"/>
              <a:t>D</a:t>
            </a:r>
            <a:r>
              <a:rPr lang="en" dirty="0" smtClean="0"/>
              <a:t>atos biométricos</a:t>
            </a:r>
          </a:p>
          <a:p>
            <a:pPr marL="342900" indent="-342900"/>
            <a:endParaRPr lang="en" dirty="0" smtClean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837" y="1711669"/>
            <a:ext cx="2387359" cy="26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81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¿Qué es un TRATAMIENTO de datos personales?</a:t>
            </a:r>
            <a:endParaRPr dirty="0"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1051458" y="1184420"/>
            <a:ext cx="5510368" cy="3755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/>
            <a:r>
              <a:rPr lang="es-ES" dirty="0"/>
              <a:t>Cualquier operación o conjunto de operaciones realizadas sobre datos personales.</a:t>
            </a:r>
          </a:p>
          <a:p>
            <a:pPr marL="342900" indent="-342900"/>
            <a:r>
              <a:rPr lang="es-ES" dirty="0"/>
              <a:t>Automatizado o manual.</a:t>
            </a:r>
          </a:p>
          <a:p>
            <a:pPr marL="342900" indent="-342900"/>
            <a:r>
              <a:rPr lang="es-ES" dirty="0"/>
              <a:t>Recogida, registro, organización, adaptación, extracción, consulta, comunicación...</a:t>
            </a:r>
          </a:p>
          <a:p>
            <a:pPr marL="342900" indent="-342900"/>
            <a:endParaRPr lang="en" dirty="0" smtClean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1753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SUJETOS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6" name="Grupo 5"/>
          <p:cNvGrpSpPr/>
          <p:nvPr/>
        </p:nvGrpSpPr>
        <p:grpSpPr>
          <a:xfrm>
            <a:off x="1032573" y="2005014"/>
            <a:ext cx="2682538" cy="1604837"/>
            <a:chOff x="393867" y="1842884"/>
            <a:chExt cx="4974011" cy="2763259"/>
          </a:xfrm>
        </p:grpSpPr>
        <p:sp>
          <p:nvSpPr>
            <p:cNvPr id="7" name="Rectángulo redondeado 6"/>
            <p:cNvSpPr/>
            <p:nvPr/>
          </p:nvSpPr>
          <p:spPr>
            <a:xfrm>
              <a:off x="393867" y="1842884"/>
              <a:ext cx="4974011" cy="2763259"/>
            </a:xfrm>
            <a:prstGeom prst="round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CuadroTexto 7"/>
            <p:cNvSpPr txBox="1"/>
            <p:nvPr/>
          </p:nvSpPr>
          <p:spPr>
            <a:xfrm>
              <a:off x="528758" y="1977775"/>
              <a:ext cx="4704229" cy="24934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5260" tIns="175260" rIns="175260" bIns="175260" numCol="1" spcCol="1270" anchor="ctr" anchorCtr="0">
              <a:noAutofit/>
            </a:bodyPr>
            <a:lstStyle/>
            <a:p>
              <a:pPr lvl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800" kern="1200" dirty="0">
                  <a:solidFill>
                    <a:sysClr val="window" lastClr="FFFFFF"/>
                  </a:solidFill>
                  <a:latin typeface="Calibri" panose="020F0502020204030204"/>
                  <a:ea typeface="+mn-ea"/>
                  <a:cs typeface="+mn-cs"/>
                </a:rPr>
                <a:t>Interesado</a:t>
              </a: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4657924" y="922702"/>
            <a:ext cx="3637168" cy="1055624"/>
            <a:chOff x="8268671" y="204558"/>
            <a:chExt cx="4398864" cy="1888337"/>
          </a:xfrm>
        </p:grpSpPr>
        <p:sp>
          <p:nvSpPr>
            <p:cNvPr id="10" name="Rectángulo redondeado 9"/>
            <p:cNvSpPr/>
            <p:nvPr/>
          </p:nvSpPr>
          <p:spPr>
            <a:xfrm>
              <a:off x="8268671" y="204558"/>
              <a:ext cx="4398864" cy="1888337"/>
            </a:xfrm>
            <a:prstGeom prst="round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1" name="CuadroTexto 10"/>
            <p:cNvSpPr txBox="1"/>
            <p:nvPr/>
          </p:nvSpPr>
          <p:spPr>
            <a:xfrm>
              <a:off x="8360852" y="296739"/>
              <a:ext cx="4214502" cy="17039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5260" tIns="175260" rIns="175260" bIns="175260" numCol="1" spcCol="1270" anchor="ctr" anchorCtr="0">
              <a:noAutofit/>
            </a:bodyPr>
            <a:lstStyle/>
            <a:p>
              <a:pPr lvl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2800" kern="1200" dirty="0">
                  <a:solidFill>
                    <a:sysClr val="window" lastClr="FFFFFF"/>
                  </a:solidFill>
                  <a:latin typeface="Calibri" panose="020F0502020204030204"/>
                  <a:ea typeface="+mn-ea"/>
                  <a:cs typeface="+mn-cs"/>
                </a:rPr>
                <a:t>Responsable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4657924" y="3551040"/>
            <a:ext cx="3749615" cy="1204765"/>
            <a:chOff x="8197026" y="4258527"/>
            <a:chExt cx="4582760" cy="1894103"/>
          </a:xfrm>
        </p:grpSpPr>
        <p:sp>
          <p:nvSpPr>
            <p:cNvPr id="13" name="Rectángulo redondeado 12"/>
            <p:cNvSpPr/>
            <p:nvPr/>
          </p:nvSpPr>
          <p:spPr>
            <a:xfrm>
              <a:off x="8197026" y="4258527"/>
              <a:ext cx="4582760" cy="1894103"/>
            </a:xfrm>
            <a:prstGeom prst="round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</p:sp>
        <p:sp>
          <p:nvSpPr>
            <p:cNvPr id="14" name="CuadroTexto 13"/>
            <p:cNvSpPr txBox="1"/>
            <p:nvPr/>
          </p:nvSpPr>
          <p:spPr>
            <a:xfrm>
              <a:off x="8221235" y="4350988"/>
              <a:ext cx="4397836" cy="17091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71450" tIns="171450" rIns="171450" bIns="171450" numCol="1" spcCol="1270" anchor="ctr" anchorCtr="0">
              <a:noAutofit/>
            </a:bodyPr>
            <a:lstStyle/>
            <a:p>
              <a:pPr marL="0" marR="0" lvl="0" indent="0" algn="ctr" defTabSz="20002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Delegado de Protección de Datos (</a:t>
              </a:r>
              <a:r>
                <a:rPr kumimoji="0" lang="es-ES" sz="28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DPO</a:t>
              </a:r>
              <a:r>
                <a:rPr kumimoji="0" lang="es-E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  <a:endPara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4657923" y="2116179"/>
            <a:ext cx="3749615" cy="1204765"/>
            <a:chOff x="8197026" y="4258527"/>
            <a:chExt cx="4582760" cy="1894103"/>
          </a:xfrm>
        </p:grpSpPr>
        <p:sp>
          <p:nvSpPr>
            <p:cNvPr id="18" name="Rectángulo redondeado 17"/>
            <p:cNvSpPr/>
            <p:nvPr/>
          </p:nvSpPr>
          <p:spPr>
            <a:xfrm>
              <a:off x="8197026" y="4258527"/>
              <a:ext cx="4582760" cy="1894103"/>
            </a:xfrm>
            <a:prstGeom prst="roundRect">
              <a:avLst/>
            </a:prstGeom>
            <a:solidFill>
              <a:srgbClr val="4472C4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</p:sp>
        <p:sp>
          <p:nvSpPr>
            <p:cNvPr id="19" name="CuadroTexto 18"/>
            <p:cNvSpPr txBox="1"/>
            <p:nvPr/>
          </p:nvSpPr>
          <p:spPr>
            <a:xfrm>
              <a:off x="8221235" y="4350988"/>
              <a:ext cx="4397836" cy="17091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71450" tIns="171450" rIns="171450" bIns="171450" numCol="1" spcCol="1270" anchor="ctr" anchorCtr="0">
              <a:noAutofit/>
            </a:bodyPr>
            <a:lstStyle/>
            <a:p>
              <a:pPr marL="0" marR="0" lvl="0" indent="0" algn="ctr" defTabSz="20002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Encargado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2079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LEGITIMACIÓN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796" y="1140000"/>
            <a:ext cx="6475534" cy="368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LEGITIMACIÓN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63" y="1215426"/>
            <a:ext cx="4052708" cy="377370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503653" y="2363612"/>
            <a:ext cx="32607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Source Sans Pro" panose="020B0604020202020204" charset="0"/>
                <a:ea typeface="Lato" panose="020F0502020204030203" pitchFamily="34" charset="0"/>
                <a:cs typeface="Lato" panose="020F0502020204030203" pitchFamily="34" charset="0"/>
              </a:rPr>
              <a:t>En cada etapa del ciclo de vida se podría hacer uso de una base distinta.</a:t>
            </a:r>
            <a:endParaRPr lang="es-ES" sz="2000" dirty="0">
              <a:latin typeface="Source Sans Pro" panose="020B060402020202020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22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CONSENTIMIENTO</a:t>
            </a:r>
            <a:endParaRPr dirty="0"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1051458" y="1184420"/>
            <a:ext cx="7528950" cy="26974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 algn="ctr">
              <a:spcBef>
                <a:spcPts val="841"/>
              </a:spcBef>
              <a:buNone/>
              <a:tabLst>
                <a:tab pos="0" algn="l"/>
              </a:tabLst>
            </a:pPr>
            <a:r>
              <a:rPr lang="es-ES" i="1" spc="-2" dirty="0">
                <a:solidFill>
                  <a:srgbClr val="1F497D"/>
                </a:solidFill>
                <a:latin typeface="Calibri"/>
                <a:ea typeface="MS PGothic"/>
              </a:rPr>
              <a:t>“toda manifestación de voluntad libre, específica, informada e inequívoca por la que el interesado acepta, ya sea mediante una declaración o una clara acción afirmativa, el tratamiento de datos personales que le conciernen.” (art 6 </a:t>
            </a:r>
            <a:r>
              <a:rPr lang="es-ES" i="1" spc="-2" dirty="0" err="1">
                <a:solidFill>
                  <a:srgbClr val="1F497D"/>
                </a:solidFill>
                <a:latin typeface="Calibri"/>
                <a:ea typeface="MS PGothic"/>
              </a:rPr>
              <a:t>LOPDGDD</a:t>
            </a:r>
            <a:r>
              <a:rPr lang="es-ES" i="1" spc="-2" dirty="0">
                <a:solidFill>
                  <a:srgbClr val="1F497D"/>
                </a:solidFill>
                <a:latin typeface="Calibri"/>
                <a:ea typeface="MS PGothic"/>
              </a:rPr>
              <a:t>)</a:t>
            </a:r>
            <a:endParaRPr lang="es-ES" spc="-2" dirty="0">
              <a:solidFill>
                <a:srgbClr val="000000"/>
              </a:solidFill>
              <a:latin typeface="Calibri"/>
            </a:endParaRPr>
          </a:p>
          <a:p>
            <a:pPr marL="342900" indent="-342900"/>
            <a:endParaRPr lang="en" dirty="0" smtClean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7517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CONSENTIMIENTO: CONDICIONES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6" name="Imagen 3"/>
          <p:cNvPicPr/>
          <p:nvPr/>
        </p:nvPicPr>
        <p:blipFill>
          <a:blip r:embed="rId3"/>
          <a:stretch/>
        </p:blipFill>
        <p:spPr>
          <a:xfrm>
            <a:off x="1356259" y="1688707"/>
            <a:ext cx="6844586" cy="2486479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8980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INFORMACIÓN</a:t>
            </a:r>
            <a:endParaRPr dirty="0"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1051458" y="1184420"/>
            <a:ext cx="7528950" cy="2829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es-ES" sz="2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información que cada responsable ha de proporcionar a los interesados se establece en los artículos 13 y 14 del </a:t>
            </a:r>
            <a:r>
              <a:rPr lang="es-ES" sz="2200" i="1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RGPD</a:t>
            </a:r>
            <a:r>
              <a:rPr lang="es-ES" sz="2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lvl="1"/>
            <a:r>
              <a:rPr lang="es-ES" sz="2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2200" i="1" dirty="0" smtClean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 </a:t>
            </a:r>
            <a:r>
              <a:rPr lang="es-ES" sz="2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contenido concreto se tendrá que adaptar a la etapa del ciclo de vida de la </a:t>
            </a:r>
            <a:r>
              <a:rPr lang="es-ES" sz="2200" i="1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IA</a:t>
            </a:r>
            <a:r>
              <a:rPr lang="es-ES" sz="2200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 la que se esté realizando el tratamiento</a:t>
            </a:r>
            <a:r>
              <a:rPr lang="es-ES" sz="2200" i="1" dirty="0" smtClean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lvl="1"/>
            <a:r>
              <a:rPr lang="es-ES" sz="2200" i="1" dirty="0" smtClean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Decisiones automatizadas o elaboración de perfiles.</a:t>
            </a:r>
            <a:endParaRPr lang="es-ES" sz="2200" i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/>
            <a:endParaRPr lang="en" dirty="0" smtClean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366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INFORMACIÓN</a:t>
            </a:r>
            <a:endParaRPr dirty="0"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1074461" y="1069401"/>
            <a:ext cx="7528950" cy="35313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 detalle de los datos empleados para la toma de decisión, y en particular los plazos de uso.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importancia relativa </a:t>
            </a:r>
            <a:r>
              <a:rPr lang="es-ES" sz="2200" dirty="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 </a:t>
            </a: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cada uno de </a:t>
            </a:r>
            <a:r>
              <a:rPr lang="es-ES" sz="2200" dirty="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ellos.</a:t>
            </a:r>
            <a:endParaRPr lang="es-E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calidad de los datos de </a:t>
            </a:r>
            <a:r>
              <a:rPr lang="es-ES" sz="2200" dirty="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entrenamiento.</a:t>
            </a:r>
            <a:endParaRPr lang="es-E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 perfilados realizados y sus implicaciones.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Valores de precisión o error.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existencia o no de supervisión humana cualificada.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referencia a auditorías</a:t>
            </a:r>
          </a:p>
          <a:p>
            <a:pPr marL="342900" indent="-342900"/>
            <a:endParaRPr lang="en" dirty="0" smtClean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867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OBLIGACIONES RESPONSABLE: RESPONSABILIDAD ACTIVA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44425" y="1451811"/>
            <a:ext cx="5169000" cy="3387900"/>
          </a:xfrm>
        </p:spPr>
        <p:txBody>
          <a:bodyPr/>
          <a:lstStyle/>
          <a:p>
            <a:r>
              <a:rPr lang="es-ES" dirty="0" smtClean="0"/>
              <a:t>Análisis </a:t>
            </a:r>
            <a:r>
              <a:rPr lang="es-ES" dirty="0"/>
              <a:t>de </a:t>
            </a:r>
            <a:r>
              <a:rPr lang="es-ES" dirty="0" smtClean="0"/>
              <a:t>Riesgo</a:t>
            </a:r>
          </a:p>
          <a:p>
            <a:r>
              <a:rPr lang="es-ES" dirty="0" smtClean="0"/>
              <a:t>Evaluaciones de impacto (</a:t>
            </a:r>
            <a:r>
              <a:rPr lang="es-ES" dirty="0" err="1" smtClean="0"/>
              <a:t>EIPD</a:t>
            </a:r>
            <a:r>
              <a:rPr lang="es-ES" dirty="0" smtClean="0"/>
              <a:t>)</a:t>
            </a:r>
          </a:p>
          <a:p>
            <a:r>
              <a:rPr lang="es-ES" dirty="0" smtClean="0"/>
              <a:t>PD desde el DISEÑO</a:t>
            </a:r>
          </a:p>
          <a:p>
            <a:r>
              <a:rPr lang="es-ES" dirty="0" smtClean="0"/>
              <a:t>Registro de Actividades</a:t>
            </a:r>
          </a:p>
          <a:p>
            <a:r>
              <a:rPr lang="es-ES" dirty="0" smtClean="0"/>
              <a:t>Medidas de Seguridad</a:t>
            </a:r>
          </a:p>
          <a:p>
            <a:r>
              <a:rPr lang="es-ES" dirty="0" smtClean="0"/>
              <a:t>Notificaciones de Violaciones de Seguridad.</a:t>
            </a:r>
          </a:p>
          <a:p>
            <a:pPr marL="7620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6796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OBLIGACIONES RESPONSABLE: RESPONSABILIDAD ACTIVA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18" y="1277071"/>
            <a:ext cx="7835227" cy="393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44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ANÁLISIS DE RIESGO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44425" y="1244777"/>
            <a:ext cx="7620964" cy="3387900"/>
          </a:xfrm>
        </p:spPr>
        <p:txBody>
          <a:bodyPr/>
          <a:lstStyle/>
          <a:p>
            <a:r>
              <a:rPr lang="es-ES" dirty="0"/>
              <a:t>RIESGO: escenario que describe un acontecimiento y sus consecuencias estimado en términos de gravedad y probabilidad</a:t>
            </a:r>
            <a:r>
              <a:rPr lang="es-ES" dirty="0" smtClean="0"/>
              <a:t>.</a:t>
            </a:r>
            <a:endParaRPr lang="es-ES" dirty="0"/>
          </a:p>
          <a:p>
            <a:r>
              <a:rPr lang="es-ES" dirty="0"/>
              <a:t>GESTIÓN DE RIESGOS: las actividades coordinadas para dirigir y controlar una organización respecto al riesgo</a:t>
            </a:r>
            <a:r>
              <a:rPr lang="es-ES" dirty="0" smtClean="0"/>
              <a:t>.</a:t>
            </a:r>
            <a:endParaRPr lang="es-ES" dirty="0"/>
          </a:p>
          <a:p>
            <a:r>
              <a:rPr lang="es-ES" dirty="0"/>
              <a:t>RIESGO PARA LOS DERECHOS Y </a:t>
            </a:r>
            <a:r>
              <a:rPr lang="es-ES" dirty="0" smtClean="0"/>
              <a:t>LIBERTADES.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75766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ANÁLISIS DE RIESGO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558" y="1279944"/>
            <a:ext cx="6836343" cy="341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98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ANÁLISIS DE RIESGO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844" y="1140000"/>
            <a:ext cx="7070066" cy="389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70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ANÁLISIS DE RIESGO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79" y="1277636"/>
            <a:ext cx="6618706" cy="378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18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ANÁLISIS DE RIESGO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47" y="1726858"/>
            <a:ext cx="6871835" cy="2468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F0D53BD-D127-C88C-B353-7E526320A095}"/>
              </a:ext>
            </a:extLst>
          </p:cNvPr>
          <p:cNvSpPr txBox="1"/>
          <p:nvPr/>
        </p:nvSpPr>
        <p:spPr>
          <a:xfrm>
            <a:off x="2459789" y="4361282"/>
            <a:ext cx="5506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/>
              </a:rPr>
              <a:t>https://www.aepd.es/guias/gestion-riesgo-y-evaluacion-impacto-en-tratamientos-datos-personales.pdf</a:t>
            </a:r>
            <a:endParaRPr lang="es-E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s-E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241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ANÁLISIS DE RIESGO: PREGUNTAS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pic>
        <p:nvPicPr>
          <p:cNvPr id="7" name="Imagen 4"/>
          <p:cNvPicPr/>
          <p:nvPr/>
        </p:nvPicPr>
        <p:blipFill>
          <a:blip r:embed="rId3"/>
          <a:stretch/>
        </p:blipFill>
        <p:spPr>
          <a:xfrm>
            <a:off x="2225302" y="1140000"/>
            <a:ext cx="5043891" cy="3902278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206559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ANÁLISIS DE RIESGO: PREGUNTAS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pic>
        <p:nvPicPr>
          <p:cNvPr id="5" name="Marcador de contenido 4"/>
          <p:cNvPicPr/>
          <p:nvPr/>
        </p:nvPicPr>
        <p:blipFill>
          <a:blip r:embed="rId3"/>
          <a:stretch/>
        </p:blipFill>
        <p:spPr>
          <a:xfrm>
            <a:off x="2139288" y="1208760"/>
            <a:ext cx="5641739" cy="39347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184698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EVALUACIÓN DE IMPACTO (</a:t>
            </a:r>
            <a:r>
              <a:rPr lang="es-ES" dirty="0" err="1" smtClean="0"/>
              <a:t>EIPD</a:t>
            </a:r>
            <a:r>
              <a:rPr lang="es-ES" dirty="0" smtClean="0"/>
              <a:t>)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58" y="1329557"/>
            <a:ext cx="8933838" cy="351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41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MEDIDAS DE SEGURIDAD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609" y="1140000"/>
            <a:ext cx="7265059" cy="394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55152"/>
      </p:ext>
    </p:extLst>
  </p:cSld>
  <p:clrMapOvr>
    <a:masterClrMapping/>
  </p:clrMapOvr>
</p:sld>
</file>

<file path=ppt/theme/theme1.xml><?xml version="1.0" encoding="utf-8"?>
<a:theme xmlns:a="http://schemas.openxmlformats.org/drawingml/2006/main" name="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749</Words>
  <Application>Microsoft Office PowerPoint</Application>
  <PresentationFormat>Presentación en pantalla (16:9)</PresentationFormat>
  <Paragraphs>166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6" baseType="lpstr">
      <vt:lpstr>Dosis</vt:lpstr>
      <vt:lpstr>Arial</vt:lpstr>
      <vt:lpstr>Calibri</vt:lpstr>
      <vt:lpstr>Wingdings</vt:lpstr>
      <vt:lpstr>Montserrat</vt:lpstr>
      <vt:lpstr>ＭＳ Ｐゴシック</vt:lpstr>
      <vt:lpstr>Source Sans Pro</vt:lpstr>
      <vt:lpstr>Lato</vt:lpstr>
      <vt:lpstr>Cerimon template</vt:lpstr>
      <vt:lpstr>REGULACIÓN DE LA INTELIGENCIA ARTIFICIAL</vt:lpstr>
      <vt:lpstr>Tema 1</vt:lpstr>
      <vt:lpstr>ELEMENTOS CLAVE PARA LA UE</vt:lpstr>
      <vt:lpstr>EVOLUCIÓN DE LA REGULACIÓN</vt:lpstr>
      <vt:lpstr>Presentación de PowerPoint</vt:lpstr>
      <vt:lpstr>Tema 1</vt:lpstr>
      <vt:lpstr>REGLAMENTO DE IA</vt:lpstr>
      <vt:lpstr>SISTEMA IA</vt:lpstr>
      <vt:lpstr>CLASIFICACIÓN SISTEMAS IA</vt:lpstr>
      <vt:lpstr>INACEPTABLES</vt:lpstr>
      <vt:lpstr>ALTO RIESGO</vt:lpstr>
      <vt:lpstr>ALTO RIESGO: REQUISITOS</vt:lpstr>
      <vt:lpstr>SISTEMAS IA DE USO GENERAL</vt:lpstr>
      <vt:lpstr>Tema 1</vt:lpstr>
      <vt:lpstr>REGULACIÓN DE LA PD</vt:lpstr>
      <vt:lpstr>¿QUÉ ES LA PRIVACIDAD?</vt:lpstr>
      <vt:lpstr>¿Qué es un DATO PERSONAL?</vt:lpstr>
      <vt:lpstr>DATOS ESPECIALMENTE PROTEGIDOS</vt:lpstr>
      <vt:lpstr>¿Qué es un TRATAMIENTO de datos personales?</vt:lpstr>
      <vt:lpstr>SUJETOS</vt:lpstr>
      <vt:lpstr>LEGITIMACIÓN</vt:lpstr>
      <vt:lpstr>LEGITIMACIÓN</vt:lpstr>
      <vt:lpstr>CONSENTIMIENTO</vt:lpstr>
      <vt:lpstr>CONSENTIMIENTO: CONDICIONES</vt:lpstr>
      <vt:lpstr>INFORMACIÓN</vt:lpstr>
      <vt:lpstr>INFORMACIÓN</vt:lpstr>
      <vt:lpstr>OBLIGACIONES RESPONSABLE: RESPONSABILIDAD ACTIVA</vt:lpstr>
      <vt:lpstr>OBLIGACIONES RESPONSABLE: RESPONSABILIDAD ACTIVA</vt:lpstr>
      <vt:lpstr>ANÁLISIS DE RIESGO</vt:lpstr>
      <vt:lpstr>ANÁLISIS DE RIESGO</vt:lpstr>
      <vt:lpstr>ANÁLISIS DE RIESGO</vt:lpstr>
      <vt:lpstr>ANÁLISIS DE RIESGO</vt:lpstr>
      <vt:lpstr>ANÁLISIS DE RIESGO</vt:lpstr>
      <vt:lpstr>ANÁLISIS DE RIESGO: PREGUNTAS</vt:lpstr>
      <vt:lpstr>ANÁLISIS DE RIESGO: PREGUNTAS</vt:lpstr>
      <vt:lpstr>EVALUACIÓN DE IMPACTO (EIPD)</vt:lpstr>
      <vt:lpstr>MEDIDAS DE SEGURIDAD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actors profiling and detection in Online Social Networks through Artificial Intelligence</dc:title>
  <dc:creator>Aurea</dc:creator>
  <cp:lastModifiedBy>AUREA MARIA ANGUERA DE SOJO HERNANDEZ</cp:lastModifiedBy>
  <cp:revision>18</cp:revision>
  <dcterms:modified xsi:type="dcterms:W3CDTF">2025-03-18T16:29:02Z</dcterms:modified>
</cp:coreProperties>
</file>